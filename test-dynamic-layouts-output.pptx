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Dynamic Layout Selection Test</a:t>
            </a:r>
            <a:endParaRPr lang="en-US"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Automated Layout Selection Based on Content Type</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Test Suite / Market Intelligence</a:t>
            </a:r>
            <a:endParaRPr lang="en-US"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TECHNICAL DEMO</a:t>
            </a:r>
            <a:endParaRPr lang="en-US" dirty="0"/>
          </a:p>
        </p:txBody>
      </p:sp>
      <p:sp>
        <p:nvSpPr>
          <p:cNvPr id="6" name="Text 4"/>
          <p:cNvSpPr/>
          <p:nvPr/>
        </p:nvSpPr>
        <p:spPr>
          <a:xfrm>
            <a:off x="0" y="0"/>
            <a:ext cx="9144000" cy="0"/>
          </a:xfrm>
          <a:prstGeom prst="rect">
            <a:avLst/>
          </a:prstGeom>
          <a:noFill/>
          <a:ln/>
        </p:spPr>
        <p:txBody>
          <a:bodyPr wrap="square" rtlCol="0"/>
          <a:lstStyle/>
          <a:p>
            <a:pPr indent="0" marL="0">
              <a:buNone/>
            </a:pPr>
            <a:r>
              <a:rPr lang="en-US" dirty="0"/>
              <a:t>December 3, 2025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2</a:t>
            </a:r>
            <a:endParaRPr lang="en-US"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Content with Subheadline Layout Test</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This slide should use 'Content w/Sub-headline' layout</a:t>
            </a:r>
            <a:endParaRPr lang="en-US"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This is a test of the content with subheadline layout. The dynamic layout selector should automatically choose the 'Content w/Sub-headline' layout because this slide has both a headline and a subheadline, along with main content. The system analyzes the content structure and selects the most appropriate layout without manual specification.</a:t>
            </a:r>
            <a:endParaRPr lang="en-US" dirty="0"/>
          </a:p>
        </p:txBody>
      </p:sp>
      <p:sp>
        <p:nvSpPr>
          <p:cNvPr id="6" name="Text 4"/>
          <p:cNvSpPr/>
          <p:nvPr/>
        </p:nvSpPr>
        <p:spPr>
          <a:xfrm>
            <a:off x="0" y="0"/>
            <a:ext cx="9144000" cy="0"/>
          </a:xfrm>
          <a:prstGeom prst="rect">
            <a:avLst/>
          </a:prstGeom>
          <a:noFill/>
          <a:ln/>
        </p:spPr>
        <p:txBody>
          <a:bodyPr wrap="square" rtlCol="0"/>
          <a:lstStyle/>
          <a:p>
            <a:pPr indent="0" marL="0">
              <a:buNone/>
            </a:pPr>
            <a:r>
              <a:rPr lang="en-US" dirty="0"/>
              <a:t>Dynamic Layout Test / December 2025</a:t>
            </a:r>
            <a:endParaRPr lang="en-US" dirty="0"/>
          </a:p>
        </p:txBody>
      </p:sp>
      <p:sp>
        <p:nvSpPr>
          <p:cNvPr id="7" name="Text 5"/>
          <p:cNvSpPr/>
          <p:nvPr/>
        </p:nvSpPr>
        <p:spPr>
          <a:xfrm>
            <a:off x="0" y="0"/>
            <a:ext cx="9144000" cy="0"/>
          </a:xfrm>
          <a:prstGeom prst="rect">
            <a:avLst/>
          </a:prstGeom>
          <a:noFill/>
          <a:ln/>
        </p:spPr>
        <p:txBody>
          <a:bodyPr wrap="square" rtlCol="0"/>
          <a:lstStyle/>
          <a:p>
            <a:pPr indent="0" marL="0">
              <a:buNone/>
            </a:pPr>
            <a:r>
              <a:rPr lang="en-US" dirty="0"/>
              <a:t>Source: PptxGenJS Layout Selector</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3</a:t>
            </a:r>
            <a:endParaRPr lang="en-US"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Content Without Subheadline Layout Test</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This slide tests the 'Content - no subtitle' layout. Since there is no subheadline in the content data, the layout selector should automatically choose the layout without a subtitle placeholder. This demonstrates how the system adapts to different content structures.</a:t>
            </a:r>
            <a:endParaRPr lang="en-US"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Dynamic Layout Test / December 2025</a:t>
            </a:r>
            <a:endParaRPr lang="en-US" dirty="0"/>
          </a:p>
        </p:txBody>
      </p:sp>
      <p:sp>
        <p:nvSpPr>
          <p:cNvPr id="6" name="Text 4"/>
          <p:cNvSpPr/>
          <p:nvPr/>
        </p:nvSpPr>
        <p:spPr>
          <a:xfrm>
            <a:off x="0" y="0"/>
            <a:ext cx="9144000" cy="0"/>
          </a:xfrm>
          <a:prstGeom prst="rect">
            <a:avLst/>
          </a:prstGeom>
          <a:noFill/>
          <a:ln/>
        </p:spPr>
        <p:txBody>
          <a:bodyPr wrap="square" rtlCol="0"/>
          <a:lstStyle/>
          <a:p>
            <a:pPr indent="0" marL="0">
              <a:buNone/>
            </a:pPr>
            <a:r>
              <a:rPr lang="en-US" dirty="0"/>
              <a:t>Source: PptxGenJS Layout Selector</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4</a:t>
            </a:r>
            <a:endParaRPr lang="en-US"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Three Column Icon Layout Demonstrates Automatic Selection Based on Icon Count</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System detects three icons and selects appropriate layout</a:t>
            </a:r>
            <a:endParaRPr lang="en-US"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Dynamic Layout Test / December 2025</a:t>
            </a:r>
            <a:endParaRPr lang="en-US" dirty="0"/>
          </a:p>
        </p:txBody>
      </p:sp>
      <p:sp>
        <p:nvSpPr>
          <p:cNvPr id="6" name="Text 4"/>
          <p:cNvSpPr/>
          <p:nvPr/>
        </p:nvSpPr>
        <p:spPr>
          <a:xfrm>
            <a:off x="0" y="0"/>
            <a:ext cx="9144000" cy="0"/>
          </a:xfrm>
          <a:prstGeom prst="rect">
            <a:avLst/>
          </a:prstGeom>
          <a:noFill/>
          <a:ln/>
        </p:spPr>
        <p:txBody>
          <a:bodyPr wrap="square" rtlCol="0"/>
          <a:lstStyle/>
          <a:p>
            <a:pPr indent="0" marL="0">
              <a:buNone/>
            </a:pPr>
            <a:r>
              <a:rPr lang="en-US" dirty="0"/>
              <a:t>Source: PptxGenJS Layout Selector</a:t>
            </a:r>
            <a:endParaRPr lang="en-US"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 cy="914400"/>
          </a:xfrm>
          <a:prstGeom prst="rect">
            <a:avLst/>
          </a:prstGeom>
        </p:spPr>
      </p:pic>
      <p:sp>
        <p:nvSpPr>
          <p:cNvPr id="8" name="Text 5"/>
          <p:cNvSpPr/>
          <p:nvPr/>
        </p:nvSpPr>
        <p:spPr>
          <a:xfrm>
            <a:off x="0" y="0"/>
            <a:ext cx="9144000" cy="0"/>
          </a:xfrm>
          <a:prstGeom prst="rect">
            <a:avLst/>
          </a:prstGeom>
          <a:noFill/>
          <a:ln/>
        </p:spPr>
        <p:txBody>
          <a:bodyPr wrap="square" rtlCol="0"/>
          <a:lstStyle/>
          <a:p>
            <a:pPr indent="0" marL="0">
              <a:buNone/>
            </a:pPr>
            <a:r>
              <a:rPr lang="en-US" dirty="0"/>
              <a:t>First Feature</a:t>
            </a:r>
            <a:endParaRPr lang="en-US" dirty="0"/>
          </a:p>
        </p:txBody>
      </p:sp>
      <p:sp>
        <p:nvSpPr>
          <p:cNvPr id="9" name="Text 6"/>
          <p:cNvSpPr/>
          <p:nvPr/>
        </p:nvSpPr>
        <p:spPr>
          <a:xfrm>
            <a:off x="0" y="0"/>
            <a:ext cx="9144000" cy="0"/>
          </a:xfrm>
          <a:prstGeom prst="rect">
            <a:avLst/>
          </a:prstGeom>
          <a:noFill/>
          <a:ln/>
        </p:spPr>
        <p:txBody>
          <a:bodyPr wrap="square" rtlCol="0"/>
          <a:lstStyle/>
          <a:p>
            <a:pPr indent="0" marL="0">
              <a:buNone/>
            </a:pPr>
            <a:r>
              <a:rPr lang="en-US" dirty="0"/>
              <a:t>This demonstrates the first icon column with automatically selected layout based on icon count detection.</a:t>
            </a:r>
            <a:endParaRPr lang="en-US"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 cy="914400"/>
          </a:xfrm>
          <a:prstGeom prst="rect">
            <a:avLst/>
          </a:prstGeom>
        </p:spPr>
      </p:pic>
      <p:sp>
        <p:nvSpPr>
          <p:cNvPr id="11" name="Text 7"/>
          <p:cNvSpPr/>
          <p:nvPr/>
        </p:nvSpPr>
        <p:spPr>
          <a:xfrm>
            <a:off x="0" y="0"/>
            <a:ext cx="9144000" cy="0"/>
          </a:xfrm>
          <a:prstGeom prst="rect">
            <a:avLst/>
          </a:prstGeom>
          <a:noFill/>
          <a:ln/>
        </p:spPr>
        <p:txBody>
          <a:bodyPr wrap="square" rtlCol="0"/>
          <a:lstStyle/>
          <a:p>
            <a:pPr indent="0" marL="0">
              <a:buNone/>
            </a:pPr>
            <a:r>
              <a:rPr lang="en-US" dirty="0"/>
              <a:t>Second Feature</a:t>
            </a:r>
            <a:endParaRPr lang="en-US" dirty="0"/>
          </a:p>
        </p:txBody>
      </p:sp>
      <p:sp>
        <p:nvSpPr>
          <p:cNvPr id="12" name="Text 8"/>
          <p:cNvSpPr/>
          <p:nvPr/>
        </p:nvSpPr>
        <p:spPr>
          <a:xfrm>
            <a:off x="0" y="0"/>
            <a:ext cx="9144000" cy="0"/>
          </a:xfrm>
          <a:prstGeom prst="rect">
            <a:avLst/>
          </a:prstGeom>
          <a:noFill/>
          <a:ln/>
        </p:spPr>
        <p:txBody>
          <a:bodyPr wrap="square" rtlCol="0"/>
          <a:lstStyle/>
          <a:p>
            <a:pPr indent="0" marL="0">
              <a:buNone/>
            </a:pPr>
            <a:r>
              <a:rPr lang="en-US" dirty="0"/>
              <a:t>The system counted three icons in the data and automatically selected the three-column icon layout.</a:t>
            </a:r>
            <a:endParaRPr lang="en-US"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914400" cy="914400"/>
          </a:xfrm>
          <a:prstGeom prst="rect">
            <a:avLst/>
          </a:prstGeom>
        </p:spPr>
      </p:pic>
      <p:sp>
        <p:nvSpPr>
          <p:cNvPr id="14" name="Text 9"/>
          <p:cNvSpPr/>
          <p:nvPr/>
        </p:nvSpPr>
        <p:spPr>
          <a:xfrm>
            <a:off x="0" y="0"/>
            <a:ext cx="9144000" cy="0"/>
          </a:xfrm>
          <a:prstGeom prst="rect">
            <a:avLst/>
          </a:prstGeom>
          <a:noFill/>
          <a:ln/>
        </p:spPr>
        <p:txBody>
          <a:bodyPr wrap="square" rtlCol="0"/>
          <a:lstStyle/>
          <a:p>
            <a:pPr indent="0" marL="0">
              <a:buNone/>
            </a:pPr>
            <a:r>
              <a:rPr lang="en-US" dirty="0"/>
              <a:t>Third Feature</a:t>
            </a:r>
            <a:endParaRPr lang="en-US" dirty="0"/>
          </a:p>
        </p:txBody>
      </p:sp>
      <p:sp>
        <p:nvSpPr>
          <p:cNvPr id="15" name="Text 10"/>
          <p:cNvSpPr/>
          <p:nvPr/>
        </p:nvSpPr>
        <p:spPr>
          <a:xfrm>
            <a:off x="0" y="0"/>
            <a:ext cx="9144000" cy="0"/>
          </a:xfrm>
          <a:prstGeom prst="rect">
            <a:avLst/>
          </a:prstGeom>
          <a:noFill/>
          <a:ln/>
        </p:spPr>
        <p:txBody>
          <a:bodyPr wrap="square" rtlCol="0"/>
          <a:lstStyle/>
          <a:p>
            <a:pPr indent="0" marL="0">
              <a:buNone/>
            </a:pPr>
            <a:r>
              <a:rPr lang="en-US" dirty="0"/>
              <a:t>No manual layout specification was needed - the content analyzer handled it automatically.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5</a:t>
            </a:r>
            <a:endParaRPr lang="en-US"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Two-Line Title with Subheadline Tests Long Headline Detection and Appropriate Layout Selection</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System detects long headline and selects two-line title layout</a:t>
            </a:r>
            <a:endParaRPr lang="en-US"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This slide demonstrates how the layout selector detects long headlines (over 60 characters) and automatically selects the 'Content w 2 Line Title and Sub-headline' layout. This ensures that long titles have adequate space without truncation or awkward wrapping. The analyzer examines the headline length and combines it with other content characteristics to make the optimal layout choice.</a:t>
            </a:r>
            <a:endParaRPr lang="en-US" dirty="0"/>
          </a:p>
        </p:txBody>
      </p:sp>
      <p:sp>
        <p:nvSpPr>
          <p:cNvPr id="6" name="Text 4"/>
          <p:cNvSpPr/>
          <p:nvPr/>
        </p:nvSpPr>
        <p:spPr>
          <a:xfrm>
            <a:off x="0" y="0"/>
            <a:ext cx="9144000" cy="0"/>
          </a:xfrm>
          <a:prstGeom prst="rect">
            <a:avLst/>
          </a:prstGeom>
          <a:noFill/>
          <a:ln/>
        </p:spPr>
        <p:txBody>
          <a:bodyPr wrap="square" rtlCol="0"/>
          <a:lstStyle/>
          <a:p>
            <a:pPr indent="0" marL="0">
              <a:buNone/>
            </a:pPr>
            <a:r>
              <a:rPr lang="en-US" dirty="0"/>
              <a:t>Dynamic Layout Test / December 2025</a:t>
            </a:r>
            <a:endParaRPr lang="en-US" dirty="0"/>
          </a:p>
        </p:txBody>
      </p:sp>
      <p:sp>
        <p:nvSpPr>
          <p:cNvPr id="7" name="Text 5"/>
          <p:cNvSpPr/>
          <p:nvPr/>
        </p:nvSpPr>
        <p:spPr>
          <a:xfrm>
            <a:off x="0" y="0"/>
            <a:ext cx="9144000" cy="0"/>
          </a:xfrm>
          <a:prstGeom prst="rect">
            <a:avLst/>
          </a:prstGeom>
          <a:noFill/>
          <a:ln/>
        </p:spPr>
        <p:txBody>
          <a:bodyPr wrap="square" rtlCol="0"/>
          <a:lstStyle/>
          <a:p>
            <a:pPr indent="0" marL="0">
              <a:buNone/>
            </a:pPr>
            <a:r>
              <a:rPr lang="en-US" dirty="0"/>
              <a:t>Source: PptxGenJS Layout Selector</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6</a:t>
            </a:r>
            <a:endParaRPr lang="en-US"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Two-Column Content Layout Test</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Left and right content automatically triggers two-column layout</a:t>
            </a:r>
            <a:endParaRPr lang="en-US"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Dynamic Layout Test / December 2025</a:t>
            </a:r>
            <a:endParaRPr lang="en-US" dirty="0"/>
          </a:p>
        </p:txBody>
      </p:sp>
      <p:sp>
        <p:nvSpPr>
          <p:cNvPr id="6" name="Text 4"/>
          <p:cNvSpPr/>
          <p:nvPr/>
        </p:nvSpPr>
        <p:spPr>
          <a:xfrm>
            <a:off x="0" y="0"/>
            <a:ext cx="9144000" cy="0"/>
          </a:xfrm>
          <a:prstGeom prst="rect">
            <a:avLst/>
          </a:prstGeom>
          <a:noFill/>
          <a:ln/>
        </p:spPr>
        <p:txBody>
          <a:bodyPr wrap="square" rtlCol="0"/>
          <a:lstStyle/>
          <a:p>
            <a:pPr indent="0" marL="0">
              <a:buNone/>
            </a:pPr>
            <a:r>
              <a:rPr lang="en-US" dirty="0"/>
              <a:t>Source: PptxGenJS Layout Selector</a:t>
            </a:r>
            <a:endParaRPr lang="en-US" dirty="0"/>
          </a:p>
        </p:txBody>
      </p:sp>
      <p:sp>
        <p:nvSpPr>
          <p:cNvPr id="7" name="Text 5"/>
          <p:cNvSpPr/>
          <p:nvPr/>
        </p:nvSpPr>
        <p:spPr>
          <a:xfrm>
            <a:off x="0" y="0"/>
            <a:ext cx="9144000" cy="0"/>
          </a:xfrm>
          <a:prstGeom prst="rect">
            <a:avLst/>
          </a:prstGeom>
          <a:noFill/>
          <a:ln/>
        </p:spPr>
        <p:txBody>
          <a:bodyPr wrap="square" rtlCol="0"/>
          <a:lstStyle/>
          <a:p>
            <a:pPr indent="0" marL="0">
              <a:buNone/>
            </a:pPr>
            <a:r>
              <a:rPr lang="en-US" dirty="0"/>
              <a:t>Left Column</a:t>
            </a:r>
            <a:endParaRPr lang="en-US" dirty="0"/>
          </a:p>
        </p:txBody>
      </p:sp>
      <p:sp>
        <p:nvSpPr>
          <p:cNvPr id="8" name="Text 6"/>
          <p:cNvSpPr/>
          <p:nvPr/>
        </p:nvSpPr>
        <p:spPr>
          <a:xfrm>
            <a:off x="0" y="0"/>
            <a:ext cx="9144000" cy="0"/>
          </a:xfrm>
          <a:prstGeom prst="rect">
            <a:avLst/>
          </a:prstGeom>
          <a:noFill/>
          <a:ln/>
        </p:spPr>
        <p:txBody>
          <a:bodyPr wrap="square" rtlCol="0"/>
          <a:lstStyle/>
          <a:p>
            <a:pPr indent="0" marL="0">
              <a:buNone/>
            </a:pPr>
            <a:r>
              <a:rPr lang="en-US" dirty="0"/>
              <a:t>When the slide data contains both leftContent and rightContent properties, the layout selector automatically chooses the 'Two Content + Subtitles' layout. This enables side-by-side comparison or presentation of complementary information.</a:t>
            </a:r>
            <a:endParaRPr lang="en-US" dirty="0"/>
          </a:p>
        </p:txBody>
      </p:sp>
      <p:sp>
        <p:nvSpPr>
          <p:cNvPr id="9" name="Text 7"/>
          <p:cNvSpPr/>
          <p:nvPr/>
        </p:nvSpPr>
        <p:spPr>
          <a:xfrm>
            <a:off x="0" y="0"/>
            <a:ext cx="9144000" cy="0"/>
          </a:xfrm>
          <a:prstGeom prst="rect">
            <a:avLst/>
          </a:prstGeom>
          <a:noFill/>
          <a:ln/>
        </p:spPr>
        <p:txBody>
          <a:bodyPr wrap="square" rtlCol="0"/>
          <a:lstStyle/>
          <a:p>
            <a:pPr indent="0" marL="0">
              <a:buNone/>
            </a:pPr>
            <a:r>
              <a:rPr lang="en-US" dirty="0"/>
              <a:t>Right Column</a:t>
            </a:r>
            <a:endParaRPr lang="en-US" dirty="0"/>
          </a:p>
        </p:txBody>
      </p:sp>
      <p:sp>
        <p:nvSpPr>
          <p:cNvPr id="10" name="Text 8"/>
          <p:cNvSpPr/>
          <p:nvPr/>
        </p:nvSpPr>
        <p:spPr>
          <a:xfrm>
            <a:off x="0" y="0"/>
            <a:ext cx="9144000" cy="0"/>
          </a:xfrm>
          <a:prstGeom prst="rect">
            <a:avLst/>
          </a:prstGeom>
          <a:noFill/>
          <a:ln/>
        </p:spPr>
        <p:txBody>
          <a:bodyPr wrap="square" rtlCol="0"/>
          <a:lstStyle/>
          <a:p>
            <a:pPr indent="0" marL="0">
              <a:buNone/>
            </a:pPr>
            <a:r>
              <a:rPr lang="en-US" dirty="0"/>
              <a:t>The system analyzes the content structure and recognizes the two-column pattern. No manual layout specification is required - the content itself drives the layout selection, making the presentation generation process more intuitive and less error-prone.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7</a:t>
            </a:r>
            <a:endParaRPr lang="en-US" dirty="0"/>
          </a:p>
        </p:txBody>
      </p:sp>
      <p:sp>
        <p:nvSpPr>
          <p:cNvPr id="3" name="Text 1"/>
          <p:cNvSpPr/>
          <p:nvPr/>
        </p:nvSpPr>
        <p:spPr>
          <a:xfrm>
            <a:off x="566928" y="347472"/>
            <a:ext cx="5029200" cy="457200"/>
          </a:xfrm>
          <a:prstGeom prst="rect">
            <a:avLst/>
          </a:prstGeom>
          <a:noFill/>
          <a:ln/>
        </p:spPr>
        <p:txBody>
          <a:bodyPr wrap="square" lIns="0" tIns="0" rIns="0" bIns="0" rtlCol="0" anchor="ctr"/>
          <a:lstStyle/>
          <a:p>
            <a:pPr algn="l" indent="0" marL="0">
              <a:buNone/>
            </a:pPr>
            <a:r>
              <a:rPr lang="en-US" sz="3600" dirty="0">
                <a:solidFill>
                  <a:srgbClr val="FFFFFF"/>
                </a:solidFill>
                <a:latin typeface="Arial" pitchFamily="34" charset="0"/>
                <a:ea typeface="Arial" pitchFamily="34" charset="-122"/>
                <a:cs typeface="Arial" pitchFamily="34" charset="-120"/>
              </a:rPr>
              <a:t>Contact us</a:t>
            </a:r>
            <a:endParaRPr lang="en-US" sz="36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