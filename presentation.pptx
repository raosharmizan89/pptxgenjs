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customXml" Target="../customXml/item1.xml"/><Relationship Id="rId16" Type="http://schemas.openxmlformats.org/officeDocument/2006/relationships/customXml" Target="../customXml/item2.xml"/><Relationship Id="rId17"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fundamental market forces driving the data center investment boom. As the speaker, emphasize that AI represents a paradigm shift in computational requirements - these workloads are fundamentally different and more resource-intensive than traditional applications. Highlight how multiple trends are converging simultaneously: AI growth, continued cloud migration, digital transformation, and edge computing expansion. This convergence is creating sustained, not cyclical, demand. Important to stress the geographic diversification aspect - this isn't just about traditional tech hubs anymore, but about spreading economic benefits to new regions. This distributed pattern amplifies the macroeconomic impact because it's creating economic development opportunities across a broader geographic footprint, which supports the article's thesis about data center investment moving the macro needle.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concluding slide presents a balanced view of the data center investment outlook, acknowledging both the strong growth momentum and emerging constraints. As the speaker, emphasize that while the fundamental drivers remain strong, the industry is entering a more mature phase where infrastructure and regulatory constraints will shape investment patterns. Highlight that power and energy constraints are becoming the primary bottleneck - this is a critical point as it shows how data center growth is now large enough to strain existing infrastructure. The regulatory challenges around data sovereignty and sustainability reflect the sector's growing importance and scrutiny. For the growth momentum side, stress that AI adoption is still in early stages and will continue driving demand. The geographic expansion through edge computing represents new opportunities for economic development in smaller markets. This slide reinforces the macro significance by showing how data center investment is now constrained by fundamental infrastructure limitations rather than just market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image" Target="../media/image-1056-1.png"/><Relationship Id="rId2"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image" Target="../media/image-1057-1.png"/><Relationship Id="rId2"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image" Target="../media/image-1058-1.png"/><Relationship Id="rId2"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image" Target="../media/image-1059-1.png"/><Relationship Id="rId2"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image" Target="../media/image-1060-1.png"/><Relationship Id="rId2"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image" Target="../media/image-1061-1.png"/><Relationship Id="rId2"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image" Target="../media/image-1062-1.png"/><Relationship Id="rId2"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image" Target="../media/image-1063-1.png"/><Relationship Id="rId2"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image" Target="../media/image-1064-1.png"/><Relationship Id="rId2"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image" Target="../media/image-1065-1.png"/><Relationship Id="rId2"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image" Target="../media/image-1066-1.png"/><Relationship Id="rId2"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image" Target="../media/image-1067-1.png"/><Relationship Id="rId2"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image" Target="../media/image-1068-1.png"/><Relationship Id="rId2"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image" Target="../media/image-1069-1.png"/><Relationship Id="rId2"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image" Target="../media/image-1070-1.png"/><Relationship Id="rId2"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image" Target="../media/image-1071-1.png"/><Relationship Id="rId2"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image" Target="../media/image-1072-1.png"/><Relationship Id="rId2"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image" Target="../media/image-1073-1.png"/><Relationship Id="rId2"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image" Target="../media/image-1074-1.png"/><Relationship Id="rId2"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image" Target="../media/image-1075-1.png"/><Relationship Id="rId2"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image" Target="../media/image-1076-1.png"/><Relationship Id="rId2"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image" Target="../media/image-1077-1.png"/><Relationship Id="rId2"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image" Target="../media/image-1078-1.png"/><Relationship Id="rId2"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image" Target="../media/image-1079-1.png"/><Relationship Id="rId2"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image" Target="../media/image-1080-1.png"/><Relationship Id="rId2"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image" Target="../media/image-1081-1.png"/><Relationship Id="rId2"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image" Target="../media/image-1082-1.png"/><Relationship Id="rId2"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image" Target="../media/image-1083-1.png"/><Relationship Id="rId2"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image" Target="../media/image-1084-1.png"/><Relationship Id="rId2"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image" Target="../media/image-1085-1.png"/><Relationship Id="rId2"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image" Target="../media/image-1086-1.png"/><Relationship Id="rId2"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image" Target="../media/image-1087-1.png"/><Relationship Id="rId2"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image" Target="../media/image-1088-1.png"/><Relationship Id="rId2"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image" Target="../media/image-1089-1.png"/><Relationship Id="rId2"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image" Target="../media/image-1090-1.png"/><Relationship Id="rId2"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image" Target="../media/image-1091-1.png"/><Relationship Id="rId2"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image" Target="../media/image-1092-1.png"/><Relationship Id="rId2"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image" Target="../media/image-1093-1.png"/><Relationship Id="rId2"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image" Target="../media/image-1094-1.png"/><Relationship Id="rId2"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image" Target="../media/image-1095-1.png"/><Relationship Id="rId2"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image" Target="../media/image-1096-1.png"/><Relationship Id="rId2"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image" Target="../media/image-1097-1.png"/><Relationship Id="rId2"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image" Target="../media/image-1098-1.png"/><Relationship Id="rId2"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image" Target="../media/image-1099-1.png"/><Relationship Id="rId2"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image" Target="../media/image-1100-1.jpeg"/><Relationship Id="rId2" Type="http://schemas.openxmlformats.org/officeDocument/2006/relationships/image" Target="../media/image-1100-2.png"/><Relationship Id="rId3"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image" Target="../media/image-1101-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1.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2.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6.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White - reports and presentations (hIH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374904" y="173736"/>
            <a:ext cx="2724912" cy="960120"/>
          </a:xfrm>
          <a:prstGeom prst="rect">
            <a:avLst/>
          </a:prstGeom>
        </p:spPr>
      </p:pic>
      <p:sp>
        <p:nvSpPr>
          <p:cNvPr id="3" name="Text 0"/>
          <p:cNvSpPr/>
          <p:nvPr>
            <p:ph idx="101" type="title" hasCustomPrompt="1"/>
          </p:nvPr>
        </p:nvSpPr>
        <p:spPr>
          <a:xfrm>
            <a:off x="475488" y="1316736"/>
            <a:ext cx="7370064" cy="1865376"/>
          </a:xfrm>
          <a:prstGeom prst="rect">
            <a:avLst/>
          </a:prstGeom>
          <a:noFill/>
          <a:ln/>
        </p:spPr>
        <p:txBody>
          <a:bodyPr wrap="square" rtlCol="0" anchor="b"/>
          <a:lstStyle>
            <a:lvl1pPr algn="l" indent="0" marL="0">
              <a:buNone/>
              <a:defRPr lang="en-US" sz="4400" dirty="0">
                <a:solidFill>
                  <a:srgbClr val="000000"/>
                </a:solidFill>
                <a:latin typeface="Arial" pitchFamily="34" charset="0"/>
                <a:ea typeface="Arial" pitchFamily="34" charset="-122"/>
                <a:cs typeface="Arial" pitchFamily="34" charset="-120"/>
              </a:defRPr>
            </a:lvl1pPr>
          </a:lstStyle>
          <a:p>
            <a:pPr algn="l" indent="0" marL="0">
              <a:buNone/>
            </a:pPr>
            <a:r>
              <a:rPr lang="en-US" sz="4400" dirty="0">
                <a:solidFill>
                  <a:srgbClr val="000000"/>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475488" y="3182112"/>
            <a:ext cx="7187184" cy="576072"/>
          </a:xfrm>
          <a:prstGeom prst="rect">
            <a:avLst/>
          </a:prstGeom>
          <a:noFill/>
          <a:ln/>
        </p:spPr>
        <p:txBody>
          <a:bodyPr wrap="square" rtlCol="0" anchor="t"/>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475488" y="3977640"/>
            <a:ext cx="7187184" cy="1865376"/>
          </a:xfrm>
          <a:prstGeom prst="rect">
            <a:avLst/>
          </a:prstGeom>
          <a:noFill/>
          <a:ln/>
        </p:spPr>
        <p:txBody>
          <a:bodyPr wrap="square" rtlCol="0" anchor="b"/>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475488" y="5980176"/>
            <a:ext cx="3035808" cy="219456"/>
          </a:xfrm>
          <a:prstGeom prst="rect">
            <a:avLst/>
          </a:prstGeom>
          <a:noFill/>
          <a:ln/>
        </p:spPr>
        <p:txBody>
          <a:bodyPr wrap="square" rtlCol="0" anchor="ctr"/>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[Month, Day Year]</a:t>
            </a:r>
            <a:endParaRPr lang="en-US" sz="1200" dirty="0"/>
          </a:p>
        </p:txBody>
      </p:sp>
      <p:sp>
        <p:nvSpPr>
          <p:cNvPr id="7" name="Text 0"/>
          <p:cNvSpPr/>
          <p:nvPr>
            <p:ph idx="105" type="body" hasCustomPrompt="1"/>
          </p:nvPr>
        </p:nvSpPr>
        <p:spPr>
          <a:xfrm>
            <a:off x="475488" y="1234440"/>
            <a:ext cx="5532120" cy="237744"/>
          </a:xfrm>
          <a:prstGeom prst="rect">
            <a:avLst/>
          </a:prstGeom>
          <a:noFill/>
          <a:ln/>
        </p:spPr>
        <p:txBody>
          <a:bodyPr wrap="square" rtlCol="0" anchor="ctr"/>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[Optional placeholder – Delete if you are not using it]</a:t>
            </a:r>
            <a:endParaRPr lang="en-US" sz="1200" dirty="0"/>
          </a:p>
        </p:txBody>
      </p:sp>
      <p:sp>
        <p:nvSpPr>
          <p:cNvPr id="8" name="Text 0"/>
          <p:cNvSpPr/>
          <p:nvPr>
            <p:ph idx="106" type="body" hasCustomPrompt="1"/>
          </p:nvPr>
        </p:nvSpPr>
        <p:spPr>
          <a:xfrm>
            <a:off x="7251192" y="356616"/>
            <a:ext cx="4471416" cy="237744"/>
          </a:xfrm>
          <a:prstGeom prst="rect">
            <a:avLst/>
          </a:prstGeom>
          <a:noFill/>
          <a:ln/>
        </p:spPr>
        <p:txBody>
          <a:bodyPr wrap="square" rtlCol="0" anchor="ctr"/>
          <a:lstStyle>
            <a:lvl1pPr algn="r" indent="0" marL="0">
              <a:buNone/>
              <a:defRPr lang="en-US" sz="1200" b="1" dirty="0">
                <a:solidFill>
                  <a:srgbClr val="D6002A"/>
                </a:solidFill>
                <a:latin typeface="Arial" pitchFamily="34" charset="0"/>
                <a:ea typeface="Arial" pitchFamily="34" charset="-122"/>
                <a:cs typeface="Arial" pitchFamily="34" charset="-120"/>
              </a:defRPr>
            </a:lvl1pPr>
          </a:lstStyle>
          <a:p>
            <a:pPr algn="r" indent="0" marL="0">
              <a:buNone/>
            </a:pPr>
            <a:r>
              <a:rPr lang="en-US" sz="1200" b="1" dirty="0">
                <a:solidFill>
                  <a:srgbClr val="D6002A"/>
                </a:solidFill>
                <a:latin typeface="Arial" pitchFamily="34" charset="0"/>
                <a:ea typeface="Arial" pitchFamily="34" charset="-122"/>
                <a:cs typeface="Arial" pitchFamily="34" charset="-120"/>
              </a:rPr>
              <a:t>[SERVICE LINE / REPORT TYPE]</a:t>
            </a:r>
            <a:endParaRPr lang="en-US" sz="1200" dirty="0"/>
          </a:p>
        </p:txBody>
      </p:sp>
      <p:sp>
        <p:nvSpPr>
          <p:cNvPr id="9" name="Text 0"/>
          <p:cNvSpPr/>
          <p:nvPr>
            <p:ph idx="107" hasCustomPrompt="1"/>
          </p:nvPr>
        </p:nvSpPr>
        <p:spPr>
          <a:xfrm>
            <a:off x="7909560" y="1289304"/>
            <a:ext cx="4288536" cy="4928616"/>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a:p>
            <a:pPr algn="r" indent="0" marL="0">
              <a:buNone/>
            </a:pPr>
            <a:r>
              <a:rPr lang="en-US" sz="700" dirty="0">
                <a:solidFill>
                  <a:srgbClr val="000000"/>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Image Bottom">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fd6ac17e8cb753e1865b09a3b5a17939.png">    </p:cNvPr>
          <p:cNvPicPr>
            <a:picLocks noChangeAspect="1"/>
          </p:cNvPicPr>
          <p:nvPr/>
        </p:nvPicPr>
        <p:blipFill>
          <a:blip r:embed="rId1"/>
          <a:stretch>
            <a:fillRect/>
          </a:stretch>
        </p:blipFill>
        <p:spPr>
          <a:xfrm>
            <a:off x="374904" y="173736"/>
            <a:ext cx="2724912" cy="960120"/>
          </a:xfrm>
          <a:prstGeom prst="rect">
            <a:avLst/>
          </a:prstGeom>
        </p:spPr>
      </p:pic>
      <p:sp>
        <p:nvSpPr>
          <p:cNvPr id="3" name="Text 0"/>
          <p:cNvSpPr/>
          <p:nvPr>
            <p:ph idx="101" type="title" hasCustomPrompt="1"/>
          </p:nvPr>
        </p:nvSpPr>
        <p:spPr>
          <a:xfrm>
            <a:off x="466344" y="1243584"/>
            <a:ext cx="7296912" cy="1865376"/>
          </a:xfrm>
          <a:prstGeom prst="rect">
            <a:avLst/>
          </a:prstGeom>
          <a:noFill/>
          <a:ln/>
        </p:spPr>
        <p:txBody>
          <a:bodyPr wrap="square" rtlCol="0" anchor="b"/>
          <a:lstStyle>
            <a:lvl1pPr algn="l" indent="0" marL="0">
              <a:buNone/>
              <a:defRPr lang="en-US" sz="4400" dirty="0">
                <a:solidFill>
                  <a:srgbClr val="FFFFFF"/>
                </a:solidFill>
                <a:latin typeface="Arial" pitchFamily="34" charset="0"/>
                <a:ea typeface="Arial" pitchFamily="34" charset="-122"/>
                <a:cs typeface="Arial" pitchFamily="34" charset="-120"/>
              </a:defRPr>
            </a:lvl1pPr>
          </a:lstStyle>
          <a:p>
            <a:pPr algn="l" indent="0" marL="0">
              <a:buNone/>
            </a:pPr>
            <a:r>
              <a:rPr lang="en-US" sz="4400" dirty="0">
                <a:solidFill>
                  <a:srgbClr val="FFFFFF"/>
                </a:solidFill>
                <a:latin typeface="Arial" pitchFamily="34" charset="0"/>
                <a:ea typeface="Arial" pitchFamily="34" charset="-122"/>
                <a:cs typeface="Arial" pitchFamily="34" charset="-120"/>
              </a:rPr>
              <a:t>[Title max two lines, shrink to fit – must be at least 32 pt]</a:t>
            </a:r>
            <a:endParaRPr lang="en-US" sz="4400" dirty="0"/>
          </a:p>
        </p:txBody>
      </p:sp>
      <p:sp>
        <p:nvSpPr>
          <p:cNvPr id="4" name="Text 0"/>
          <p:cNvSpPr/>
          <p:nvPr>
            <p:ph idx="102" type="body" hasCustomPrompt="1"/>
          </p:nvPr>
        </p:nvSpPr>
        <p:spPr>
          <a:xfrm>
            <a:off x="466344" y="3118104"/>
            <a:ext cx="7296912" cy="402336"/>
          </a:xfrm>
          <a:prstGeom prst="rect">
            <a:avLst/>
          </a:prstGeom>
          <a:noFill/>
          <a:ln/>
        </p:spPr>
        <p:txBody>
          <a:bodyPr wrap="square" rtlCol="0" anchor="t"/>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r>
              <a:rPr lang="en-US" sz="1800" dirty="0">
                <a:solidFill>
                  <a:srgbClr val="FFFFFF"/>
                </a:solidFill>
                <a:latin typeface="Arial" pitchFamily="34" charset="0"/>
                <a:ea typeface="Arial" pitchFamily="34" charset="-122"/>
                <a:cs typeface="Arial" pitchFamily="34" charset="-120"/>
              </a:rPr>
              <a:t>[Subtitle max one line, shrink to fit – must be at least 14 pt]</a:t>
            </a:r>
            <a:endParaRPr lang="en-US" sz="1800" dirty="0"/>
          </a:p>
        </p:txBody>
      </p:sp>
      <p:sp>
        <p:nvSpPr>
          <p:cNvPr id="5" name="Text 0"/>
          <p:cNvSpPr/>
          <p:nvPr>
            <p:ph idx="103" type="body" hasCustomPrompt="1"/>
          </p:nvPr>
        </p:nvSpPr>
        <p:spPr>
          <a:xfrm>
            <a:off x="8503920" y="1417320"/>
            <a:ext cx="3218688" cy="1691640"/>
          </a:xfrm>
          <a:prstGeom prst="rect">
            <a:avLst/>
          </a:prstGeom>
          <a:noFill/>
          <a:ln/>
        </p:spPr>
        <p:txBody>
          <a:bodyPr wrap="square" rtlCol="0" anchor="b"/>
          <a:lstStyle>
            <a:lvl1pPr algn="l" indent="0" marL="0">
              <a:buNone/>
              <a:defRPr lang="en-US" sz="1600" dirty="0">
                <a:solidFill>
                  <a:srgbClr val="FFFFFF"/>
                </a:solidFill>
                <a:latin typeface="Arial" pitchFamily="34" charset="0"/>
                <a:ea typeface="Arial" pitchFamily="34" charset="-122"/>
                <a:cs typeface="Arial" pitchFamily="34" charset="-120"/>
              </a:defRPr>
            </a:lvl1pPr>
          </a:lstStyle>
          <a:p>
            <a:pPr algn="l" indent="0" marL="0">
              <a:buNone/>
            </a:pPr>
            <a:r>
              <a:rPr lang="en-US" sz="1600" dirty="0">
                <a:solidFill>
                  <a:srgbClr val="FFFFFF"/>
                </a:solidFill>
                <a:latin typeface="Arial" pitchFamily="34" charset="0"/>
                <a:ea typeface="Arial" pitchFamily="34" charset="-122"/>
                <a:cs typeface="Arial" pitchFamily="34" charset="-120"/>
              </a:rPr>
              <a:t>[First and Last Name / Department / Title]</a:t>
            </a:r>
            <a:endParaRPr lang="en-US" sz="1600" dirty="0"/>
          </a:p>
        </p:txBody>
      </p:sp>
      <p:sp>
        <p:nvSpPr>
          <p:cNvPr id="6" name="Text 0"/>
          <p:cNvSpPr/>
          <p:nvPr>
            <p:ph idx="104" hasCustomPrompt="1"/>
          </p:nvPr>
        </p:nvSpPr>
        <p:spPr>
          <a:xfrm>
            <a:off x="8503920" y="3108960"/>
            <a:ext cx="3072384" cy="292608"/>
          </a:xfrm>
          <a:prstGeom prst="rect">
            <a:avLst/>
          </a:prstGeom>
          <a:noFill/>
          <a:ln/>
        </p:spPr>
        <p:txBody>
          <a:bodyPr wrap="square" rtlCol="0" anchor="t"/>
          <a:lstStyle>
            <a:lvl1pPr algn="l" indent="0" marL="0">
              <a:buNone/>
              <a:defRPr lang="en-US" sz="1200" dirty="0">
                <a:solidFill>
                  <a:srgbClr val="FFFFFF"/>
                </a:solidFill>
                <a:latin typeface="Arial" pitchFamily="34" charset="0"/>
                <a:ea typeface="Arial" pitchFamily="34" charset="-122"/>
                <a:cs typeface="Arial" pitchFamily="34" charset="-120"/>
              </a:defRPr>
            </a:lvl1pPr>
          </a:lstStyle>
          <a:p>
            <a:pPr algn="l" indent="0" marL="0">
              <a:buNone/>
            </a:pPr>
            <a:r>
              <a:rPr lang="en-US" sz="1200" dirty="0">
                <a:solidFill>
                  <a:srgbClr val="FFFFFF"/>
                </a:solidFill>
                <a:latin typeface="Arial" pitchFamily="34" charset="0"/>
                <a:ea typeface="Arial" pitchFamily="34" charset="-122"/>
                <a:cs typeface="Arial" pitchFamily="34" charset="-120"/>
              </a:rPr>
              <a:t>[Month, Day Year]</a:t>
            </a:r>
            <a:endParaRPr lang="en-US" sz="1200" dirty="0"/>
          </a:p>
        </p:txBody>
      </p:sp>
      <p:sp>
        <p:nvSpPr>
          <p:cNvPr id="7" name="Text 0"/>
          <p:cNvSpPr/>
          <p:nvPr>
            <p:ph idx="105" hasCustomPrompt="1"/>
          </p:nvPr>
        </p:nvSpPr>
        <p:spPr>
          <a:xfrm>
            <a:off x="0" y="3694176"/>
            <a:ext cx="12188952" cy="3163824"/>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0"/>
          <p:cNvSpPr/>
          <p:nvPr/>
        </p:nvSpPr>
        <p:spPr>
          <a:xfrm>
            <a:off x="5641848" y="6464808"/>
            <a:ext cx="5989320" cy="31089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a:p>
            <a:pPr algn="r" indent="0" marL="0">
              <a:buNone/>
            </a:pPr>
            <a:r>
              <a:rPr lang="en-US" sz="700" dirty="0">
                <a:solidFill>
                  <a:srgbClr val="FFFFFF"/>
                </a:solidFill>
                <a:latin typeface="Arial" pitchFamily="34" charset="0"/>
                <a:ea typeface="Arial" pitchFamily="34" charset="-122"/>
                <a:cs typeface="Arial" pitchFamily="34" charset="-120"/>
              </a:rPr>
              <a:t>Permission to reprint or distribute any content from this presentation requires the prior written approval of S&amp;P Global.</a:t>
            </a:r>
            <a:endParaRPr lang="en-US" sz="700"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ivider Photo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66344" y="402336"/>
            <a:ext cx="5394960" cy="4846320"/>
          </a:xfrm>
          <a:prstGeom prst="rect">
            <a:avLst/>
          </a:prstGeom>
          <a:noFill/>
          <a:ln/>
        </p:spPr>
        <p:txBody>
          <a:bodyPr wrap="square" rtlCol="0" anchor="ctr"/>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Table of contents</a:t>
            </a:r>
            <a:endParaRPr lang="en-US" sz="4000" dirty="0"/>
          </a:p>
        </p:txBody>
      </p:sp>
      <p:sp>
        <p:nvSpPr>
          <p:cNvPr id="6" name="Text 1"/>
          <p:cNvSpPr/>
          <p:nvPr>
            <p:ph idx="104" type="body" hasCustomPrompt="1"/>
          </p:nvPr>
        </p:nvSpPr>
        <p:spPr>
          <a:xfrm>
            <a:off x="475488" y="1252728"/>
            <a:ext cx="5394960" cy="4837176"/>
          </a:xfrm>
          <a:prstGeom prst="rect">
            <a:avLst/>
          </a:prstGeom>
          <a:noFill/>
          <a:ln/>
        </p:spPr>
        <p:txBody>
          <a:bodyPr wrap="square" rtlCol="0" anchor="b"/>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7" name="Text 1"/>
          <p:cNvSpPr/>
          <p:nvPr>
            <p:ph idx="105" hasCustomPrompt="1"/>
          </p:nvPr>
        </p:nvSpPr>
        <p:spPr>
          <a:xfrm>
            <a:off x="6099048" y="484632"/>
            <a:ext cx="6089904" cy="555955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genda - presentatio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0171221a07b0be1374ebaa6bc786f2b5.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66344" y="3657600"/>
            <a:ext cx="3264408" cy="731520"/>
          </a:xfrm>
          <a:prstGeom prst="rect">
            <a:avLst/>
          </a:prstGeom>
          <a:noFill/>
          <a:ln/>
        </p:spPr>
        <p:txBody>
          <a:bodyPr wrap="square" rtlCol="0" anchor="ctr"/>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Agenda</a:t>
            </a:r>
            <a:endParaRPr lang="en-US" sz="4000" dirty="0"/>
          </a:p>
        </p:txBody>
      </p:sp>
      <p:sp>
        <p:nvSpPr>
          <p:cNvPr id="6" name="Text 1"/>
          <p:cNvSpPr/>
          <p:nvPr>
            <p:ph idx="104" type="body" hasCustomPrompt="1"/>
          </p:nvPr>
        </p:nvSpPr>
        <p:spPr>
          <a:xfrm>
            <a:off x="6519672" y="1901952"/>
            <a:ext cx="5212080" cy="4197096"/>
          </a:xfrm>
          <a:prstGeom prst="rect">
            <a:avLst/>
          </a:prstGeom>
          <a:noFill/>
          <a:ln/>
        </p:spPr>
        <p:txBody>
          <a:bodyPr wrap="square" rtlCol="0" anchor="ctr"/>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[Click to add content items]</a:t>
            </a:r>
            <a:endParaRPr lang="en-US" sz="2400" dirty="0"/>
          </a:p>
        </p:txBody>
      </p:sp>
      <p:sp>
        <p:nvSpPr>
          <p:cNvPr id="7" name="Text 1"/>
          <p:cNvSpPr/>
          <p:nvPr>
            <p:ph idx="105"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OC - report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66344"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Table of contents</a:t>
            </a:r>
            <a:endParaRPr lang="en-US" sz="2400" dirty="0"/>
          </a:p>
        </p:txBody>
      </p:sp>
      <p:sp>
        <p:nvSpPr>
          <p:cNvPr id="6" name="Text 1"/>
          <p:cNvSpPr/>
          <p:nvPr>
            <p:ph idx="104" type="body" hasCustomPrompt="1"/>
          </p:nvPr>
        </p:nvSpPr>
        <p:spPr>
          <a:xfrm>
            <a:off x="475488" y="1207008"/>
            <a:ext cx="11247120" cy="5029200"/>
          </a:xfrm>
          <a:prstGeom prst="rect">
            <a:avLst/>
          </a:prstGeom>
          <a:noFill/>
          <a:ln/>
        </p:spPr>
        <p:txBody>
          <a:bodyPr wrap="square" rtlCol="0" anchor="t"/>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7" name="Text 1"/>
          <p:cNvSpPr/>
          <p:nvPr>
            <p:ph idx="105"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tent - no subtitl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1207008"/>
            <a:ext cx="1124712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7" name="Text 1"/>
          <p:cNvSpPr/>
          <p:nvPr>
            <p:ph idx="105"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8" name="Text 1"/>
          <p:cNvSpPr/>
          <p:nvPr>
            <p:ph idx="106"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tent w/Sub-headlin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07008"/>
            <a:ext cx="1124712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9" name="Text 1"/>
          <p:cNvSpPr/>
          <p:nvPr>
            <p:ph idx="107"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ntent w 2 Line Title and Sub-headlin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82296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two lines max]</a:t>
            </a:r>
            <a:endParaRPr lang="en-US" sz="2400" dirty="0"/>
          </a:p>
        </p:txBody>
      </p:sp>
      <p:sp>
        <p:nvSpPr>
          <p:cNvPr id="6" name="Text 1"/>
          <p:cNvSpPr/>
          <p:nvPr>
            <p:ph idx="104" type="body" hasCustomPrompt="1"/>
          </p:nvPr>
        </p:nvSpPr>
        <p:spPr>
          <a:xfrm>
            <a:off x="475488" y="1271016"/>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591056"/>
            <a:ext cx="11247120" cy="4050792"/>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9" name="Text 1"/>
          <p:cNvSpPr/>
          <p:nvPr>
            <p:ph idx="107"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wo Content">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07008"/>
            <a:ext cx="521208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left content]</a:t>
            </a:r>
            <a:endParaRPr lang="en-US" sz="1200" dirty="0"/>
          </a:p>
        </p:txBody>
      </p:sp>
      <p:sp>
        <p:nvSpPr>
          <p:cNvPr id="8" name="Text 1"/>
          <p:cNvSpPr/>
          <p:nvPr>
            <p:ph idx="106" type="body" hasCustomPrompt="1"/>
          </p:nvPr>
        </p:nvSpPr>
        <p:spPr>
          <a:xfrm>
            <a:off x="6510528" y="1207008"/>
            <a:ext cx="521208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right content]</a:t>
            </a:r>
            <a:endParaRPr lang="en-US" sz="1200" dirty="0"/>
          </a:p>
        </p:txBody>
      </p:sp>
      <p:sp>
        <p:nvSpPr>
          <p:cNvPr id="9" name="Text 1"/>
          <p:cNvSpPr/>
          <p:nvPr>
            <p:ph idx="107"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wo Content + Subtitle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71016"/>
            <a:ext cx="521208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[Left subtitle]</a:t>
            </a:r>
            <a:endParaRPr lang="en-US" sz="1800" dirty="0"/>
          </a:p>
        </p:txBody>
      </p:sp>
      <p:sp>
        <p:nvSpPr>
          <p:cNvPr id="8" name="Text 1"/>
          <p:cNvSpPr/>
          <p:nvPr>
            <p:ph idx="106" type="body" hasCustomPrompt="1"/>
          </p:nvPr>
        </p:nvSpPr>
        <p:spPr>
          <a:xfrm>
            <a:off x="475488" y="1609344"/>
            <a:ext cx="5212080" cy="402336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left content]</a:t>
            </a:r>
            <a:endParaRPr lang="en-US" sz="1200" dirty="0"/>
          </a:p>
        </p:txBody>
      </p:sp>
      <p:sp>
        <p:nvSpPr>
          <p:cNvPr id="9" name="Text 1"/>
          <p:cNvSpPr/>
          <p:nvPr>
            <p:ph idx="107" type="body" hasCustomPrompt="1"/>
          </p:nvPr>
        </p:nvSpPr>
        <p:spPr>
          <a:xfrm>
            <a:off x="6510528" y="1271016"/>
            <a:ext cx="521208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[Right subtitle]</a:t>
            </a:r>
            <a:endParaRPr lang="en-US" sz="1800" dirty="0"/>
          </a:p>
        </p:txBody>
      </p:sp>
      <p:sp>
        <p:nvSpPr>
          <p:cNvPr id="10" name="Text 1"/>
          <p:cNvSpPr/>
          <p:nvPr>
            <p:ph idx="108" type="body" hasCustomPrompt="1"/>
          </p:nvPr>
        </p:nvSpPr>
        <p:spPr>
          <a:xfrm>
            <a:off x="6510528" y="1609344"/>
            <a:ext cx="5212080" cy="402336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right content]</a:t>
            </a:r>
            <a:endParaRPr lang="en-US" sz="1200" dirty="0"/>
          </a:p>
        </p:txBody>
      </p:sp>
      <p:sp>
        <p:nvSpPr>
          <p:cNvPr id="11" name="Text 1"/>
          <p:cNvSpPr/>
          <p:nvPr>
            <p:ph idx="109"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2" name="Text 1"/>
          <p:cNvSpPr/>
          <p:nvPr>
            <p:ph idx="110"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4 Colum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2743200"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8" name="Text 1"/>
          <p:cNvSpPr/>
          <p:nvPr>
            <p:ph idx="106" type="body" hasCustomPrompt="1"/>
          </p:nvPr>
        </p:nvSpPr>
        <p:spPr>
          <a:xfrm>
            <a:off x="475488" y="1764792"/>
            <a:ext cx="2743200"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9" name="Text 1"/>
          <p:cNvSpPr/>
          <p:nvPr>
            <p:ph idx="107" type="body" hasCustomPrompt="1"/>
          </p:nvPr>
        </p:nvSpPr>
        <p:spPr>
          <a:xfrm>
            <a:off x="3310128" y="1225296"/>
            <a:ext cx="2743200"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0" name="Text 1"/>
          <p:cNvSpPr/>
          <p:nvPr>
            <p:ph idx="108" type="body" hasCustomPrompt="1"/>
          </p:nvPr>
        </p:nvSpPr>
        <p:spPr>
          <a:xfrm>
            <a:off x="3310128" y="1764792"/>
            <a:ext cx="2743200"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1" name="Text 1"/>
          <p:cNvSpPr/>
          <p:nvPr>
            <p:ph idx="109" type="body" hasCustomPrompt="1"/>
          </p:nvPr>
        </p:nvSpPr>
        <p:spPr>
          <a:xfrm>
            <a:off x="6144768" y="1225296"/>
            <a:ext cx="2743200"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2" name="Text 1"/>
          <p:cNvSpPr/>
          <p:nvPr>
            <p:ph idx="110" type="body" hasCustomPrompt="1"/>
          </p:nvPr>
        </p:nvSpPr>
        <p:spPr>
          <a:xfrm>
            <a:off x="6144768" y="1764792"/>
            <a:ext cx="2743200"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3" name="Text 1"/>
          <p:cNvSpPr/>
          <p:nvPr>
            <p:ph idx="111" type="body" hasCustomPrompt="1"/>
          </p:nvPr>
        </p:nvSpPr>
        <p:spPr>
          <a:xfrm>
            <a:off x="8988552" y="1225296"/>
            <a:ext cx="2743200"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4" name="Text 1"/>
          <p:cNvSpPr/>
          <p:nvPr>
            <p:ph idx="112" type="body" hasCustomPrompt="1"/>
          </p:nvPr>
        </p:nvSpPr>
        <p:spPr>
          <a:xfrm>
            <a:off x="8988552" y="1764792"/>
            <a:ext cx="2743200"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5" name="Text 1"/>
          <p:cNvSpPr/>
          <p:nvPr>
            <p:ph idx="113"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6" name="Text 1"/>
          <p:cNvSpPr/>
          <p:nvPr>
            <p:ph idx="114"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5 Colum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2221992"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8" name="Text 1"/>
          <p:cNvSpPr/>
          <p:nvPr>
            <p:ph idx="106" type="body" hasCustomPrompt="1"/>
          </p:nvPr>
        </p:nvSpPr>
        <p:spPr>
          <a:xfrm>
            <a:off x="475488" y="1764792"/>
            <a:ext cx="2221992"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9" name="Text 1"/>
          <p:cNvSpPr/>
          <p:nvPr>
            <p:ph idx="107" type="body" hasCustomPrompt="1"/>
          </p:nvPr>
        </p:nvSpPr>
        <p:spPr>
          <a:xfrm>
            <a:off x="2734056" y="1225296"/>
            <a:ext cx="2221992"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0" name="Text 1"/>
          <p:cNvSpPr/>
          <p:nvPr>
            <p:ph idx="108" type="body" hasCustomPrompt="1"/>
          </p:nvPr>
        </p:nvSpPr>
        <p:spPr>
          <a:xfrm>
            <a:off x="2734056" y="1764792"/>
            <a:ext cx="2221992"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1" name="Text 1"/>
          <p:cNvSpPr/>
          <p:nvPr>
            <p:ph idx="109" type="body" hasCustomPrompt="1"/>
          </p:nvPr>
        </p:nvSpPr>
        <p:spPr>
          <a:xfrm>
            <a:off x="4992624" y="1225296"/>
            <a:ext cx="2221992"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2" name="Text 1"/>
          <p:cNvSpPr/>
          <p:nvPr>
            <p:ph idx="110" type="body" hasCustomPrompt="1"/>
          </p:nvPr>
        </p:nvSpPr>
        <p:spPr>
          <a:xfrm>
            <a:off x="4992624" y="1764792"/>
            <a:ext cx="2221992"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3" name="Text 1"/>
          <p:cNvSpPr/>
          <p:nvPr>
            <p:ph idx="111" type="body" hasCustomPrompt="1"/>
          </p:nvPr>
        </p:nvSpPr>
        <p:spPr>
          <a:xfrm>
            <a:off x="7251192" y="1225296"/>
            <a:ext cx="2221992"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4" name="Text 1"/>
          <p:cNvSpPr/>
          <p:nvPr>
            <p:ph idx="112" type="body" hasCustomPrompt="1"/>
          </p:nvPr>
        </p:nvSpPr>
        <p:spPr>
          <a:xfrm>
            <a:off x="7251192" y="1764792"/>
            <a:ext cx="2221992"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5" name="Text 1"/>
          <p:cNvSpPr/>
          <p:nvPr>
            <p:ph idx="113" type="body" hasCustomPrompt="1"/>
          </p:nvPr>
        </p:nvSpPr>
        <p:spPr>
          <a:xfrm>
            <a:off x="9509760" y="1225296"/>
            <a:ext cx="2221992" cy="5852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[subtitle5]</a:t>
            </a:r>
            <a:endParaRPr lang="en-US" sz="1600" dirty="0"/>
          </a:p>
        </p:txBody>
      </p:sp>
      <p:sp>
        <p:nvSpPr>
          <p:cNvPr id="16" name="Text 1"/>
          <p:cNvSpPr/>
          <p:nvPr>
            <p:ph idx="114" type="body" hasCustomPrompt="1"/>
          </p:nvPr>
        </p:nvSpPr>
        <p:spPr>
          <a:xfrm>
            <a:off x="9509760" y="1764792"/>
            <a:ext cx="2221992" cy="38862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[content5]</a:t>
            </a:r>
            <a:endParaRPr lang="en-US" sz="1200" dirty="0"/>
          </a:p>
        </p:txBody>
      </p:sp>
      <p:sp>
        <p:nvSpPr>
          <p:cNvPr id="17" name="Text 1"/>
          <p:cNvSpPr/>
          <p:nvPr>
            <p:ph idx="115"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8" name="Text 1"/>
          <p:cNvSpPr/>
          <p:nvPr>
            <p:ph idx="116"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 with Sidebar">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740664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8302752" y="1225296"/>
            <a:ext cx="3419856" cy="4434840"/>
          </a:xfrm>
          <a:prstGeom prst="rect">
            <a:avLst/>
          </a:prstGeom>
          <a:noFill/>
          <a:ln/>
        </p:spPr>
        <p:txBody>
          <a:bodyPr wrap="square" rtlCol="0" anchor="t"/>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content]</a:t>
            </a:r>
            <a:endParaRPr lang="en-US" sz="1600" dirty="0"/>
          </a:p>
        </p:txBody>
      </p:sp>
      <p:sp>
        <p:nvSpPr>
          <p:cNvPr id="9" name="Text 1"/>
          <p:cNvSpPr/>
          <p:nvPr>
            <p:ph idx="107"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8" name="Text 1"/>
          <p:cNvSpPr/>
          <p:nvPr>
            <p:ph idx="106"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 + Image/Ic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48" y="0"/>
            <a:ext cx="6099048" cy="6858000"/>
          </a:xfrm>
          <a:prstGeom prst="rect">
            <a:avLst/>
          </a:prstGeom>
          <a:solidFill>
            <a:srgbClr val="C7DAE0"/>
          </a:solidFill>
          <a:ln w="12700">
            <a:solidFill>
              <a:srgbClr val="C7DAE0"/>
            </a:solidFill>
            <a:prstDash val="solid"/>
          </a:ln>
        </p:spPr>
      </p:sp>
      <p:sp>
        <p:nvSpPr>
          <p:cNvPr id="3" name="Text 1"/>
          <p:cNvSpPr/>
          <p:nvPr>
            <p:ph idx="101" hasCustomPrompt="1"/>
          </p:nvPr>
        </p:nvSpPr>
        <p:spPr>
          <a:xfrm>
            <a:off x="6611112" y="649224"/>
            <a:ext cx="5029200" cy="5559552"/>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4"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5" name="Text 1"/>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6" name="Text 2"/>
          <p:cNvSpPr/>
          <p:nvPr>
            <p:ph idx="104"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7" name="Text 2"/>
          <p:cNvSpPr/>
          <p:nvPr>
            <p:ph idx="105" type="title" hasCustomPrompt="1"/>
          </p:nvPr>
        </p:nvSpPr>
        <p:spPr>
          <a:xfrm>
            <a:off x="475488" y="292608"/>
            <a:ext cx="5303520" cy="54864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8" name="Text 2"/>
          <p:cNvSpPr/>
          <p:nvPr>
            <p:ph idx="106" type="body" hasCustomPrompt="1"/>
          </p:nvPr>
        </p:nvSpPr>
        <p:spPr>
          <a:xfrm>
            <a:off x="475488" y="896112"/>
            <a:ext cx="53035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9" name="Text 2"/>
          <p:cNvSpPr/>
          <p:nvPr>
            <p:ph idx="107" type="body" hasCustomPrompt="1"/>
          </p:nvPr>
        </p:nvSpPr>
        <p:spPr>
          <a:xfrm>
            <a:off x="475488" y="1225296"/>
            <a:ext cx="530352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2"/>
          <p:cNvSpPr/>
          <p:nvPr>
            <p:ph idx="10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2"/>
          <p:cNvSpPr/>
          <p:nvPr>
            <p:ph idx="109" type="body" hasCustomPrompt="1"/>
          </p:nvPr>
        </p:nvSpPr>
        <p:spPr>
          <a:xfrm>
            <a:off x="475488" y="5733288"/>
            <a:ext cx="53035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ntent + Photo White">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6611112" y="0"/>
            <a:ext cx="5577840"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3"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5" name="Text 1"/>
          <p:cNvSpPr/>
          <p:nvPr>
            <p:ph idx="103"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6" name="Text 1"/>
          <p:cNvSpPr/>
          <p:nvPr>
            <p:ph idx="104" type="title" hasCustomPrompt="1"/>
          </p:nvPr>
        </p:nvSpPr>
        <p:spPr>
          <a:xfrm>
            <a:off x="475488" y="292608"/>
            <a:ext cx="5303520" cy="54864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7" name="Text 1"/>
          <p:cNvSpPr/>
          <p:nvPr>
            <p:ph idx="105" type="body" hasCustomPrompt="1"/>
          </p:nvPr>
        </p:nvSpPr>
        <p:spPr>
          <a:xfrm>
            <a:off x="475488" y="896112"/>
            <a:ext cx="53035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8" name="Text 1"/>
          <p:cNvSpPr/>
          <p:nvPr>
            <p:ph idx="106" type="body" hasCustomPrompt="1"/>
          </p:nvPr>
        </p:nvSpPr>
        <p:spPr>
          <a:xfrm>
            <a:off x="475488" y="1225296"/>
            <a:ext cx="530352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475488" y="5733288"/>
            <a:ext cx="53035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ntent + Photo Black">
    <p:bg>
      <p:bgPr>
        <a:solidFill>
          <a:srgbClr val="000000"/>
        </a:solidFill>
      </p:bgPr>
    </p:bg>
    <p:spTree>
      <p:nvGrpSpPr>
        <p:cNvPr id="1" name=""/>
        <p:cNvGrpSpPr/>
        <p:nvPr/>
      </p:nvGrpSpPr>
      <p:grpSpPr>
        <a:xfrm>
          <a:off x="0" y="0"/>
          <a:ext cx="0" cy="0"/>
          <a:chOff x="0" y="0"/>
          <a:chExt cx="0" cy="0"/>
        </a:xfrm>
      </p:grpSpPr>
      <p:sp>
        <p:nvSpPr>
          <p:cNvPr id="2" name="Text 0"/>
          <p:cNvSpPr/>
          <p:nvPr>
            <p:ph idx="100" hasCustomPrompt="1"/>
          </p:nvPr>
        </p:nvSpPr>
        <p:spPr>
          <a:xfrm>
            <a:off x="6611112" y="0"/>
            <a:ext cx="5577840"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3" name="Image 0" descr="https://snp-mediaportal.qbank.se/assets/deployedFiles/fd6ac17e8cb753e1865b09a3b5a17939.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p:txBody>
      </p:sp>
      <p:sp>
        <p:nvSpPr>
          <p:cNvPr id="5" name="Text 1"/>
          <p:cNvSpPr/>
          <p:nvPr>
            <p:ph idx="103"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6" name="Text 1"/>
          <p:cNvSpPr/>
          <p:nvPr>
            <p:ph idx="104" type="title" hasCustomPrompt="1"/>
          </p:nvPr>
        </p:nvSpPr>
        <p:spPr>
          <a:xfrm>
            <a:off x="475488" y="292608"/>
            <a:ext cx="5303520" cy="548640"/>
          </a:xfrm>
          <a:prstGeom prst="rect">
            <a:avLst/>
          </a:prstGeom>
          <a:noFill/>
          <a:ln/>
        </p:spPr>
        <p:txBody>
          <a:bodyPr wrap="square" rtlCol="0" anchor="t"/>
          <a:lstStyle>
            <a:lvl1pPr algn="l" indent="0" marL="0">
              <a:buNone/>
              <a:defRPr lang="en-US" sz="2400" dirty="0">
                <a:solidFill>
                  <a:srgbClr val="FFFFFF"/>
                </a:solidFill>
                <a:latin typeface="Arial" pitchFamily="34" charset="0"/>
                <a:ea typeface="Arial" pitchFamily="34" charset="-122"/>
                <a:cs typeface="Arial" pitchFamily="34" charset="-120"/>
              </a:defRPr>
            </a:lvl1pPr>
          </a:lstStyle>
          <a:p>
            <a:pPr algn="l" indent="0" marL="0">
              <a:buNone/>
            </a:pPr>
            <a:r>
              <a:rPr lang="en-US" sz="2400" dirty="0">
                <a:solidFill>
                  <a:srgbClr val="FFFFFF"/>
                </a:solidFill>
                <a:latin typeface="Arial" pitchFamily="34" charset="0"/>
                <a:ea typeface="Arial" pitchFamily="34" charset="-122"/>
                <a:cs typeface="Arial" pitchFamily="34" charset="-120"/>
              </a:rPr>
              <a:t>[Headline - one line max]</a:t>
            </a:r>
            <a:endParaRPr lang="en-US" sz="2400" dirty="0"/>
          </a:p>
        </p:txBody>
      </p:sp>
      <p:sp>
        <p:nvSpPr>
          <p:cNvPr id="7" name="Text 1"/>
          <p:cNvSpPr/>
          <p:nvPr>
            <p:ph idx="105" type="body" hasCustomPrompt="1"/>
          </p:nvPr>
        </p:nvSpPr>
        <p:spPr>
          <a:xfrm>
            <a:off x="475488" y="896112"/>
            <a:ext cx="5303520" cy="283464"/>
          </a:xfrm>
          <a:prstGeom prst="rect">
            <a:avLst/>
          </a:prstGeom>
          <a:noFill/>
          <a:ln/>
        </p:spPr>
        <p:txBody>
          <a:bodyPr wrap="square" rtlCol="0" anchor="ctr"/>
          <a:lstStyle>
            <a:lvl1pPr algn="l" indent="0" marL="0">
              <a:buNone/>
              <a:defRPr lang="en-US" sz="1800" dirty="0">
                <a:solidFill>
                  <a:srgbClr val="FFFFFF"/>
                </a:solidFill>
                <a:latin typeface="Arial" pitchFamily="34" charset="0"/>
                <a:ea typeface="Arial" pitchFamily="34" charset="-122"/>
                <a:cs typeface="Arial" pitchFamily="34" charset="-120"/>
              </a:defRPr>
            </a:lvl1pPr>
          </a:lstStyle>
          <a:p>
            <a:pPr algn="l" indent="0" marL="0">
              <a:buNone/>
            </a:pPr>
            <a:r>
              <a:rPr lang="en-US" sz="1800" dirty="0">
                <a:solidFill>
                  <a:srgbClr val="FFFFFF"/>
                </a:solidFill>
                <a:latin typeface="Arial" pitchFamily="34" charset="0"/>
                <a:ea typeface="Arial" pitchFamily="34" charset="-122"/>
                <a:cs typeface="Arial" pitchFamily="34" charset="-120"/>
              </a:rPr>
              <a:t>[Subheadline - one line max]</a:t>
            </a:r>
            <a:endParaRPr lang="en-US" sz="1800" dirty="0"/>
          </a:p>
        </p:txBody>
      </p:sp>
      <p:sp>
        <p:nvSpPr>
          <p:cNvPr id="8" name="Text 1"/>
          <p:cNvSpPr/>
          <p:nvPr>
            <p:ph idx="106" type="body" hasCustomPrompt="1"/>
          </p:nvPr>
        </p:nvSpPr>
        <p:spPr>
          <a:xfrm>
            <a:off x="475488" y="1225296"/>
            <a:ext cx="5303520" cy="4434840"/>
          </a:xfrm>
          <a:prstGeom prst="rect">
            <a:avLst/>
          </a:prstGeom>
          <a:noFill/>
          <a:ln/>
        </p:spPr>
        <p:txBody>
          <a:bodyPr wrap="square" rtlCol="0" anchor="t"/>
          <a:lstStyle>
            <a:lvl1pPr algn="l" indent="0" marL="0">
              <a:spcAft>
                <a:spcPts val="600"/>
              </a:spcAft>
              <a:buNone/>
              <a:defRPr lang="en-US" sz="1200" dirty="0">
                <a:solidFill>
                  <a:srgbClr val="FFFFFF"/>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FFFFFF"/>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475488" y="5733288"/>
            <a:ext cx="5303520" cy="530352"/>
          </a:xfrm>
          <a:prstGeom prst="rect">
            <a:avLst/>
          </a:prstGeom>
          <a:noFill/>
          <a:ln/>
        </p:spPr>
        <p:txBody>
          <a:bodyPr wrap="square" rtlCol="0" anchor="b"/>
          <a:lstStyle>
            <a:lvl1pPr algn="l" indent="0" marL="0">
              <a:buNone/>
              <a:defRPr lang="en-US" sz="700" dirty="0">
                <a:solidFill>
                  <a:srgbClr val="FFFFFF"/>
                </a:solidFill>
                <a:latin typeface="Arial" pitchFamily="34" charset="0"/>
                <a:ea typeface="Arial" pitchFamily="34" charset="-122"/>
                <a:cs typeface="Arial" pitchFamily="34" charset="-120"/>
              </a:defRPr>
            </a:lvl1pPr>
          </a:lstStyle>
          <a:p>
            <a:pPr algn="l" indent="0" marL="0">
              <a:buNone/>
            </a:pPr>
            <a:r>
              <a:rPr lang="en-US" sz="700" dirty="0">
                <a:solidFill>
                  <a:srgbClr val="FFFFFF"/>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ntent + Photo Blu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611112" cy="6858000"/>
          </a:xfrm>
          <a:prstGeom prst="rect">
            <a:avLst/>
          </a:prstGeom>
          <a:solidFill>
            <a:srgbClr val="C7DAE0"/>
          </a:solidFill>
          <a:ln w="12700">
            <a:solidFill>
              <a:srgbClr val="C7DAE0"/>
            </a:solidFill>
            <a:prstDash val="solid"/>
          </a:ln>
        </p:spPr>
      </p:sp>
      <p:sp>
        <p:nvSpPr>
          <p:cNvPr id="3" name="Text 1"/>
          <p:cNvSpPr/>
          <p:nvPr>
            <p:ph idx="101" hasCustomPrompt="1"/>
          </p:nvPr>
        </p:nvSpPr>
        <p:spPr>
          <a:xfrm>
            <a:off x="6611112" y="0"/>
            <a:ext cx="5577840"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4" name="Image 0" descr="https://snp-mediaportal.qbank.se/assets/deployedFiles/0171221a07b0be1374ebaa6bc786f2b5.png">    </p:cNvPr>
          <p:cNvPicPr>
            <a:picLocks noChangeAspect="1"/>
          </p:cNvPicPr>
          <p:nvPr/>
        </p:nvPicPr>
        <p:blipFill>
          <a:blip r:embed="rId1"/>
          <a:stretch>
            <a:fillRect/>
          </a:stretch>
        </p:blipFill>
        <p:spPr>
          <a:xfrm>
            <a:off x="466344" y="6281928"/>
            <a:ext cx="1572768" cy="557784"/>
          </a:xfrm>
          <a:prstGeom prst="rect">
            <a:avLst/>
          </a:prstGeom>
        </p:spPr>
      </p:pic>
      <p:sp>
        <p:nvSpPr>
          <p:cNvPr id="5" name="Text 1"/>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p:txBody>
      </p:sp>
      <p:sp>
        <p:nvSpPr>
          <p:cNvPr id="6" name="Text 2"/>
          <p:cNvSpPr/>
          <p:nvPr>
            <p:ph idx="104"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7" name="Text 2"/>
          <p:cNvSpPr/>
          <p:nvPr>
            <p:ph idx="105" type="title" hasCustomPrompt="1"/>
          </p:nvPr>
        </p:nvSpPr>
        <p:spPr>
          <a:xfrm>
            <a:off x="475488" y="292608"/>
            <a:ext cx="5303520" cy="54864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8" name="Text 2"/>
          <p:cNvSpPr/>
          <p:nvPr>
            <p:ph idx="106" type="body" hasCustomPrompt="1"/>
          </p:nvPr>
        </p:nvSpPr>
        <p:spPr>
          <a:xfrm>
            <a:off x="475488" y="896112"/>
            <a:ext cx="53035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9" name="Text 2"/>
          <p:cNvSpPr/>
          <p:nvPr>
            <p:ph idx="107" type="body" hasCustomPrompt="1"/>
          </p:nvPr>
        </p:nvSpPr>
        <p:spPr>
          <a:xfrm>
            <a:off x="475488" y="1225296"/>
            <a:ext cx="530352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2"/>
          <p:cNvSpPr/>
          <p:nvPr>
            <p:ph idx="10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2"/>
          <p:cNvSpPr/>
          <p:nvPr>
            <p:ph idx="109" type="body" hasCustomPrompt="1"/>
          </p:nvPr>
        </p:nvSpPr>
        <p:spPr>
          <a:xfrm>
            <a:off x="475488" y="5733288"/>
            <a:ext cx="53035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Icons 3 Columns Vertical">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hasCustomPrompt="1"/>
          </p:nvPr>
        </p:nvSpPr>
        <p:spPr>
          <a:xfrm>
            <a:off x="557784" y="1261872"/>
            <a:ext cx="1161288" cy="116128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466344" y="2578608"/>
            <a:ext cx="3474720" cy="384048"/>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p:nvPr>
            <p:ph idx="107" type="body" hasCustomPrompt="1"/>
          </p:nvPr>
        </p:nvSpPr>
        <p:spPr>
          <a:xfrm>
            <a:off x="466344" y="3118104"/>
            <a:ext cx="3474720" cy="25146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p:nvPr>
            <p:ph idx="108" hasCustomPrompt="1"/>
          </p:nvPr>
        </p:nvSpPr>
        <p:spPr>
          <a:xfrm>
            <a:off x="4407408" y="1261872"/>
            <a:ext cx="1161288" cy="116128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1" name="Text 1"/>
          <p:cNvSpPr/>
          <p:nvPr>
            <p:ph idx="109" type="body" hasCustomPrompt="1"/>
          </p:nvPr>
        </p:nvSpPr>
        <p:spPr>
          <a:xfrm>
            <a:off x="4315968" y="2578608"/>
            <a:ext cx="3474720" cy="384048"/>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p:nvPr>
            <p:ph idx="110" type="body" hasCustomPrompt="1"/>
          </p:nvPr>
        </p:nvSpPr>
        <p:spPr>
          <a:xfrm>
            <a:off x="4315968" y="3118104"/>
            <a:ext cx="3474720" cy="25146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p:nvPr>
            <p:ph idx="111" hasCustomPrompt="1"/>
          </p:nvPr>
        </p:nvSpPr>
        <p:spPr>
          <a:xfrm>
            <a:off x="8257032" y="1261872"/>
            <a:ext cx="1161288" cy="116128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4" name="Text 1"/>
          <p:cNvSpPr/>
          <p:nvPr>
            <p:ph idx="112" type="body" hasCustomPrompt="1"/>
          </p:nvPr>
        </p:nvSpPr>
        <p:spPr>
          <a:xfrm>
            <a:off x="8165592" y="2578608"/>
            <a:ext cx="3474720" cy="384048"/>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p:nvPr>
            <p:ph idx="113" type="body" hasCustomPrompt="1"/>
          </p:nvPr>
        </p:nvSpPr>
        <p:spPr>
          <a:xfrm>
            <a:off x="8165592" y="3118104"/>
            <a:ext cx="3474720" cy="251460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p:nvPr>
            <p:ph idx="114"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7" name="Text 1"/>
          <p:cNvSpPr/>
          <p:nvPr>
            <p:ph idx="115"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Icons 3 Columns Horizontal">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hasCustomPrompt="1"/>
          </p:nvPr>
        </p:nvSpPr>
        <p:spPr>
          <a:xfrm>
            <a:off x="566928" y="1261872"/>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1691640" y="1271016"/>
            <a:ext cx="9966960"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p:nvPr>
            <p:ph idx="107" type="body" hasCustomPrompt="1"/>
          </p:nvPr>
        </p:nvSpPr>
        <p:spPr>
          <a:xfrm>
            <a:off x="1691640" y="1536192"/>
            <a:ext cx="9966960"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p:nvPr>
            <p:ph idx="108" hasCustomPrompt="1"/>
          </p:nvPr>
        </p:nvSpPr>
        <p:spPr>
          <a:xfrm>
            <a:off x="566928" y="2715768"/>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1" name="Text 1"/>
          <p:cNvSpPr/>
          <p:nvPr>
            <p:ph idx="109" type="body" hasCustomPrompt="1"/>
          </p:nvPr>
        </p:nvSpPr>
        <p:spPr>
          <a:xfrm>
            <a:off x="1700784" y="2715768"/>
            <a:ext cx="9966960"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p:nvPr>
            <p:ph idx="110" type="body" hasCustomPrompt="1"/>
          </p:nvPr>
        </p:nvSpPr>
        <p:spPr>
          <a:xfrm>
            <a:off x="1700784" y="2999232"/>
            <a:ext cx="9966960"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p:nvPr>
            <p:ph idx="111" hasCustomPrompt="1"/>
          </p:nvPr>
        </p:nvSpPr>
        <p:spPr>
          <a:xfrm>
            <a:off x="566928" y="4160520"/>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4" name="Text 1"/>
          <p:cNvSpPr/>
          <p:nvPr>
            <p:ph idx="112" type="body" hasCustomPrompt="1"/>
          </p:nvPr>
        </p:nvSpPr>
        <p:spPr>
          <a:xfrm>
            <a:off x="1700784" y="4160520"/>
            <a:ext cx="9966960"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p:nvPr>
            <p:ph idx="113" type="body" hasCustomPrompt="1"/>
          </p:nvPr>
        </p:nvSpPr>
        <p:spPr>
          <a:xfrm>
            <a:off x="1700784" y="4434840"/>
            <a:ext cx="9966960"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p:nvPr>
            <p:ph idx="114"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7" name="Text 1"/>
          <p:cNvSpPr/>
          <p:nvPr>
            <p:ph idx="115"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Icons 4 Columns + Content">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521208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8" name="Text 1"/>
          <p:cNvSpPr/>
          <p:nvPr>
            <p:ph idx="106" hasCustomPrompt="1"/>
          </p:nvPr>
        </p:nvSpPr>
        <p:spPr>
          <a:xfrm>
            <a:off x="6620256" y="1261872"/>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9" name="Text 1"/>
          <p:cNvSpPr/>
          <p:nvPr>
            <p:ph idx="107" type="body" hasCustomPrompt="1"/>
          </p:nvPr>
        </p:nvSpPr>
        <p:spPr>
          <a:xfrm>
            <a:off x="7397496" y="1225296"/>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10" name="Text 1"/>
          <p:cNvSpPr/>
          <p:nvPr>
            <p:ph idx="108" type="body" hasCustomPrompt="1"/>
          </p:nvPr>
        </p:nvSpPr>
        <p:spPr>
          <a:xfrm>
            <a:off x="7397496" y="1563624"/>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1" name="Text 1"/>
          <p:cNvSpPr/>
          <p:nvPr>
            <p:ph idx="109" hasCustomPrompt="1"/>
          </p:nvPr>
        </p:nvSpPr>
        <p:spPr>
          <a:xfrm>
            <a:off x="6620256" y="2487168"/>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2" name="Text 1"/>
          <p:cNvSpPr/>
          <p:nvPr>
            <p:ph idx="110" type="body" hasCustomPrompt="1"/>
          </p:nvPr>
        </p:nvSpPr>
        <p:spPr>
          <a:xfrm>
            <a:off x="7397496" y="2441448"/>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3" name="Text 1"/>
          <p:cNvSpPr/>
          <p:nvPr>
            <p:ph idx="111" type="body" hasCustomPrompt="1"/>
          </p:nvPr>
        </p:nvSpPr>
        <p:spPr>
          <a:xfrm>
            <a:off x="7397496" y="2779776"/>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4" name="Text 1"/>
          <p:cNvSpPr/>
          <p:nvPr>
            <p:ph idx="112" hasCustomPrompt="1"/>
          </p:nvPr>
        </p:nvSpPr>
        <p:spPr>
          <a:xfrm>
            <a:off x="6620256" y="3712464"/>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5" name="Text 1"/>
          <p:cNvSpPr/>
          <p:nvPr>
            <p:ph idx="113" type="body" hasCustomPrompt="1"/>
          </p:nvPr>
        </p:nvSpPr>
        <p:spPr>
          <a:xfrm>
            <a:off x="7397496" y="3666744"/>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6" name="Text 1"/>
          <p:cNvSpPr/>
          <p:nvPr>
            <p:ph idx="114" type="body" hasCustomPrompt="1"/>
          </p:nvPr>
        </p:nvSpPr>
        <p:spPr>
          <a:xfrm>
            <a:off x="7397496" y="4005072"/>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7" name="Text 1"/>
          <p:cNvSpPr/>
          <p:nvPr>
            <p:ph idx="115" hasCustomPrompt="1"/>
          </p:nvPr>
        </p:nvSpPr>
        <p:spPr>
          <a:xfrm>
            <a:off x="6620256" y="4928616"/>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8" name="Text 1"/>
          <p:cNvSpPr/>
          <p:nvPr>
            <p:ph idx="116" type="body" hasCustomPrompt="1"/>
          </p:nvPr>
        </p:nvSpPr>
        <p:spPr>
          <a:xfrm>
            <a:off x="7397496" y="4882896"/>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19" name="Text 1"/>
          <p:cNvSpPr/>
          <p:nvPr>
            <p:ph idx="117" type="body" hasCustomPrompt="1"/>
          </p:nvPr>
        </p:nvSpPr>
        <p:spPr>
          <a:xfrm>
            <a:off x="7397496" y="5221224"/>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20" name="Text 1"/>
          <p:cNvSpPr/>
          <p:nvPr>
            <p:ph idx="11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1" name="Text 1"/>
          <p:cNvSpPr/>
          <p:nvPr>
            <p:ph idx="119"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Icons 4 Columns + Content Blu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9048" y="0"/>
            <a:ext cx="6099048" cy="6858000"/>
          </a:xfrm>
          <a:prstGeom prst="rect">
            <a:avLst/>
          </a:prstGeom>
          <a:solidFill>
            <a:srgbClr val="C7DAE0"/>
          </a:solidFill>
          <a:ln/>
        </p:spPr>
      </p:sp>
      <p:pic>
        <p:nvPicPr>
          <p:cNvPr id="3"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1"/>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5" name="Text 2"/>
          <p:cNvSpPr/>
          <p:nvPr>
            <p:ph idx="103"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6" name="Text 2"/>
          <p:cNvSpPr/>
          <p:nvPr>
            <p:ph idx="104" type="title" hasCustomPrompt="1"/>
          </p:nvPr>
        </p:nvSpPr>
        <p:spPr>
          <a:xfrm>
            <a:off x="475488" y="292608"/>
            <a:ext cx="53035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7" name="Text 2"/>
          <p:cNvSpPr/>
          <p:nvPr>
            <p:ph idx="105" type="body" hasCustomPrompt="1"/>
          </p:nvPr>
        </p:nvSpPr>
        <p:spPr>
          <a:xfrm>
            <a:off x="475488" y="896112"/>
            <a:ext cx="53035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8" name="Text 2"/>
          <p:cNvSpPr/>
          <p:nvPr>
            <p:ph idx="106" type="body" hasCustomPrompt="1"/>
          </p:nvPr>
        </p:nvSpPr>
        <p:spPr>
          <a:xfrm>
            <a:off x="475488" y="1225296"/>
            <a:ext cx="530352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9" name="Text 2"/>
          <p:cNvSpPr/>
          <p:nvPr>
            <p:ph idx="107" hasCustomPrompt="1"/>
          </p:nvPr>
        </p:nvSpPr>
        <p:spPr>
          <a:xfrm>
            <a:off x="6620256" y="1261872"/>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0" name="Text 2"/>
          <p:cNvSpPr/>
          <p:nvPr>
            <p:ph idx="108" type="body" hasCustomPrompt="1"/>
          </p:nvPr>
        </p:nvSpPr>
        <p:spPr>
          <a:xfrm>
            <a:off x="7397496" y="1225296"/>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[Subtitle1]</a:t>
            </a:r>
            <a:endParaRPr lang="en-US" sz="1600" dirty="0"/>
          </a:p>
        </p:txBody>
      </p:sp>
      <p:sp>
        <p:nvSpPr>
          <p:cNvPr id="11" name="Text 2"/>
          <p:cNvSpPr/>
          <p:nvPr>
            <p:ph idx="109" type="body" hasCustomPrompt="1"/>
          </p:nvPr>
        </p:nvSpPr>
        <p:spPr>
          <a:xfrm>
            <a:off x="7397496" y="1563624"/>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2" name="Text 2"/>
          <p:cNvSpPr/>
          <p:nvPr>
            <p:ph idx="110" hasCustomPrompt="1"/>
          </p:nvPr>
        </p:nvSpPr>
        <p:spPr>
          <a:xfrm>
            <a:off x="6620256" y="2487168"/>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3" name="Text 2"/>
          <p:cNvSpPr/>
          <p:nvPr>
            <p:ph idx="111" type="body" hasCustomPrompt="1"/>
          </p:nvPr>
        </p:nvSpPr>
        <p:spPr>
          <a:xfrm>
            <a:off x="7397496" y="2441448"/>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[Subtitle2]</a:t>
            </a:r>
            <a:endParaRPr lang="en-US" sz="1600" dirty="0"/>
          </a:p>
        </p:txBody>
      </p:sp>
      <p:sp>
        <p:nvSpPr>
          <p:cNvPr id="14" name="Text 2"/>
          <p:cNvSpPr/>
          <p:nvPr>
            <p:ph idx="112" type="body" hasCustomPrompt="1"/>
          </p:nvPr>
        </p:nvSpPr>
        <p:spPr>
          <a:xfrm>
            <a:off x="7397496" y="2779776"/>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5" name="Text 2"/>
          <p:cNvSpPr/>
          <p:nvPr>
            <p:ph idx="113" hasCustomPrompt="1"/>
          </p:nvPr>
        </p:nvSpPr>
        <p:spPr>
          <a:xfrm>
            <a:off x="6620256" y="3712464"/>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6" name="Text 2"/>
          <p:cNvSpPr/>
          <p:nvPr>
            <p:ph idx="114" type="body" hasCustomPrompt="1"/>
          </p:nvPr>
        </p:nvSpPr>
        <p:spPr>
          <a:xfrm>
            <a:off x="7397496" y="3666744"/>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[Subtitle3]</a:t>
            </a:r>
            <a:endParaRPr lang="en-US" sz="1600" dirty="0"/>
          </a:p>
        </p:txBody>
      </p:sp>
      <p:sp>
        <p:nvSpPr>
          <p:cNvPr id="17" name="Text 2"/>
          <p:cNvSpPr/>
          <p:nvPr>
            <p:ph idx="115" type="body" hasCustomPrompt="1"/>
          </p:nvPr>
        </p:nvSpPr>
        <p:spPr>
          <a:xfrm>
            <a:off x="7397496" y="4005072"/>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8" name="Text 2"/>
          <p:cNvSpPr/>
          <p:nvPr>
            <p:ph idx="116" hasCustomPrompt="1"/>
          </p:nvPr>
        </p:nvSpPr>
        <p:spPr>
          <a:xfrm>
            <a:off x="6620256" y="4928616"/>
            <a:ext cx="731520" cy="7315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9" name="Text 2"/>
          <p:cNvSpPr/>
          <p:nvPr>
            <p:ph idx="117" type="body" hasCustomPrompt="1"/>
          </p:nvPr>
        </p:nvSpPr>
        <p:spPr>
          <a:xfrm>
            <a:off x="7397496" y="4882896"/>
            <a:ext cx="4315968" cy="356616"/>
          </a:xfrm>
          <a:prstGeom prst="rect">
            <a:avLst/>
          </a:prstGeom>
          <a:noFill/>
          <a:ln/>
        </p:spPr>
        <p:txBody>
          <a:bodyPr wrap="square" rtlCol="0" anchor="t"/>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[Subtitle4]</a:t>
            </a:r>
            <a:endParaRPr lang="en-US" sz="1600" dirty="0"/>
          </a:p>
        </p:txBody>
      </p:sp>
      <p:sp>
        <p:nvSpPr>
          <p:cNvPr id="20" name="Text 2"/>
          <p:cNvSpPr/>
          <p:nvPr>
            <p:ph idx="118" type="body" hasCustomPrompt="1"/>
          </p:nvPr>
        </p:nvSpPr>
        <p:spPr>
          <a:xfrm>
            <a:off x="7397496" y="5221224"/>
            <a:ext cx="4315968" cy="73152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21" name="Text 2"/>
          <p:cNvSpPr/>
          <p:nvPr>
            <p:ph idx="119"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2" name="Text 2"/>
          <p:cNvSpPr/>
          <p:nvPr>
            <p:ph idx="120" type="body" hasCustomPrompt="1"/>
          </p:nvPr>
        </p:nvSpPr>
        <p:spPr>
          <a:xfrm>
            <a:off x="475488" y="5733288"/>
            <a:ext cx="53035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Icons 2 x 3 Column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hasCustomPrompt="1"/>
          </p:nvPr>
        </p:nvSpPr>
        <p:spPr>
          <a:xfrm>
            <a:off x="566928" y="1261872"/>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1691640" y="1271016"/>
            <a:ext cx="4041648"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[subtitle1]</a:t>
            </a:r>
            <a:endParaRPr lang="en-US" sz="1800" dirty="0"/>
          </a:p>
        </p:txBody>
      </p:sp>
      <p:sp>
        <p:nvSpPr>
          <p:cNvPr id="9" name="Text 1"/>
          <p:cNvSpPr/>
          <p:nvPr>
            <p:ph idx="107" type="body" hasCustomPrompt="1"/>
          </p:nvPr>
        </p:nvSpPr>
        <p:spPr>
          <a:xfrm>
            <a:off x="1691640" y="1536192"/>
            <a:ext cx="4041648"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[content1]</a:t>
            </a:r>
            <a:endParaRPr lang="en-US" sz="1200" dirty="0"/>
          </a:p>
        </p:txBody>
      </p:sp>
      <p:sp>
        <p:nvSpPr>
          <p:cNvPr id="10" name="Text 1"/>
          <p:cNvSpPr/>
          <p:nvPr>
            <p:ph idx="108" hasCustomPrompt="1"/>
          </p:nvPr>
        </p:nvSpPr>
        <p:spPr>
          <a:xfrm>
            <a:off x="6547104" y="1261872"/>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1" name="Text 1"/>
          <p:cNvSpPr/>
          <p:nvPr>
            <p:ph idx="109" type="body" hasCustomPrompt="1"/>
          </p:nvPr>
        </p:nvSpPr>
        <p:spPr>
          <a:xfrm>
            <a:off x="7671816" y="1271016"/>
            <a:ext cx="4041648"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[subtitle2]</a:t>
            </a:r>
            <a:endParaRPr lang="en-US" sz="1800" dirty="0"/>
          </a:p>
        </p:txBody>
      </p:sp>
      <p:sp>
        <p:nvSpPr>
          <p:cNvPr id="12" name="Text 1"/>
          <p:cNvSpPr/>
          <p:nvPr>
            <p:ph idx="110" type="body" hasCustomPrompt="1"/>
          </p:nvPr>
        </p:nvSpPr>
        <p:spPr>
          <a:xfrm>
            <a:off x="7671816" y="1536192"/>
            <a:ext cx="4041648"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[content2]</a:t>
            </a:r>
            <a:endParaRPr lang="en-US" sz="1200" dirty="0"/>
          </a:p>
        </p:txBody>
      </p:sp>
      <p:sp>
        <p:nvSpPr>
          <p:cNvPr id="13" name="Text 1"/>
          <p:cNvSpPr/>
          <p:nvPr>
            <p:ph idx="111" hasCustomPrompt="1"/>
          </p:nvPr>
        </p:nvSpPr>
        <p:spPr>
          <a:xfrm>
            <a:off x="566928" y="2715768"/>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4" name="Text 1"/>
          <p:cNvSpPr/>
          <p:nvPr>
            <p:ph idx="112" type="body" hasCustomPrompt="1"/>
          </p:nvPr>
        </p:nvSpPr>
        <p:spPr>
          <a:xfrm>
            <a:off x="1691640" y="2724912"/>
            <a:ext cx="4041648"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[subtitle3]</a:t>
            </a:r>
            <a:endParaRPr lang="en-US" sz="1800" dirty="0"/>
          </a:p>
        </p:txBody>
      </p:sp>
      <p:sp>
        <p:nvSpPr>
          <p:cNvPr id="15" name="Text 1"/>
          <p:cNvSpPr/>
          <p:nvPr>
            <p:ph idx="113" type="body" hasCustomPrompt="1"/>
          </p:nvPr>
        </p:nvSpPr>
        <p:spPr>
          <a:xfrm>
            <a:off x="1691640" y="2980944"/>
            <a:ext cx="4041648"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[content3]</a:t>
            </a:r>
            <a:endParaRPr lang="en-US" sz="1200" dirty="0"/>
          </a:p>
        </p:txBody>
      </p:sp>
      <p:sp>
        <p:nvSpPr>
          <p:cNvPr id="16" name="Text 1"/>
          <p:cNvSpPr/>
          <p:nvPr>
            <p:ph idx="114" hasCustomPrompt="1"/>
          </p:nvPr>
        </p:nvSpPr>
        <p:spPr>
          <a:xfrm>
            <a:off x="6547104" y="2715768"/>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17" name="Text 1"/>
          <p:cNvSpPr/>
          <p:nvPr>
            <p:ph idx="115" type="body" hasCustomPrompt="1"/>
          </p:nvPr>
        </p:nvSpPr>
        <p:spPr>
          <a:xfrm>
            <a:off x="7671816" y="2724912"/>
            <a:ext cx="4041648"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[subtitle4]</a:t>
            </a:r>
            <a:endParaRPr lang="en-US" sz="1800" dirty="0"/>
          </a:p>
        </p:txBody>
      </p:sp>
      <p:sp>
        <p:nvSpPr>
          <p:cNvPr id="18" name="Text 1"/>
          <p:cNvSpPr/>
          <p:nvPr>
            <p:ph idx="116" type="body" hasCustomPrompt="1"/>
          </p:nvPr>
        </p:nvSpPr>
        <p:spPr>
          <a:xfrm>
            <a:off x="7671816" y="2980944"/>
            <a:ext cx="4041648"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[content4]</a:t>
            </a:r>
            <a:endParaRPr lang="en-US" sz="1200" dirty="0"/>
          </a:p>
        </p:txBody>
      </p:sp>
      <p:sp>
        <p:nvSpPr>
          <p:cNvPr id="19" name="Text 1"/>
          <p:cNvSpPr/>
          <p:nvPr>
            <p:ph idx="117" hasCustomPrompt="1"/>
          </p:nvPr>
        </p:nvSpPr>
        <p:spPr>
          <a:xfrm>
            <a:off x="566928" y="4151376"/>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20" name="Text 1"/>
          <p:cNvSpPr/>
          <p:nvPr>
            <p:ph idx="118" type="body" hasCustomPrompt="1"/>
          </p:nvPr>
        </p:nvSpPr>
        <p:spPr>
          <a:xfrm>
            <a:off x="1691640" y="4169664"/>
            <a:ext cx="4041648"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[subtitle5]</a:t>
            </a:r>
            <a:endParaRPr lang="en-US" sz="1800" dirty="0"/>
          </a:p>
        </p:txBody>
      </p:sp>
      <p:sp>
        <p:nvSpPr>
          <p:cNvPr id="21" name="Text 1"/>
          <p:cNvSpPr/>
          <p:nvPr>
            <p:ph idx="119" type="body" hasCustomPrompt="1"/>
          </p:nvPr>
        </p:nvSpPr>
        <p:spPr>
          <a:xfrm>
            <a:off x="1691640" y="4416552"/>
            <a:ext cx="4041648"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[content5]</a:t>
            </a:r>
            <a:endParaRPr lang="en-US" sz="1200" dirty="0"/>
          </a:p>
        </p:txBody>
      </p:sp>
      <p:sp>
        <p:nvSpPr>
          <p:cNvPr id="22" name="Text 1"/>
          <p:cNvSpPr/>
          <p:nvPr>
            <p:ph idx="120" hasCustomPrompt="1"/>
          </p:nvPr>
        </p:nvSpPr>
        <p:spPr>
          <a:xfrm>
            <a:off x="6547104" y="4151376"/>
            <a:ext cx="850392" cy="85039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23" name="Text 1"/>
          <p:cNvSpPr/>
          <p:nvPr>
            <p:ph idx="121" type="body" hasCustomPrompt="1"/>
          </p:nvPr>
        </p:nvSpPr>
        <p:spPr>
          <a:xfrm>
            <a:off x="7671816" y="4169664"/>
            <a:ext cx="4041648" cy="265176"/>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[subtitle6]</a:t>
            </a:r>
            <a:endParaRPr lang="en-US" sz="1800" dirty="0"/>
          </a:p>
        </p:txBody>
      </p:sp>
      <p:sp>
        <p:nvSpPr>
          <p:cNvPr id="24" name="Text 1"/>
          <p:cNvSpPr/>
          <p:nvPr>
            <p:ph idx="122" type="body" hasCustomPrompt="1"/>
          </p:nvPr>
        </p:nvSpPr>
        <p:spPr>
          <a:xfrm>
            <a:off x="7671816" y="4416552"/>
            <a:ext cx="4041648" cy="93268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[content6]</a:t>
            </a:r>
            <a:endParaRPr lang="en-US" sz="1200" dirty="0"/>
          </a:p>
        </p:txBody>
      </p:sp>
      <p:sp>
        <p:nvSpPr>
          <p:cNvPr id="25" name="Text 1"/>
          <p:cNvSpPr/>
          <p:nvPr>
            <p:ph idx="123"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26" name="Text 1"/>
          <p:cNvSpPr/>
          <p:nvPr>
            <p:ph idx="124"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ntent + Chart/Table 1">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521208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521208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521208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8" name="Text 1"/>
          <p:cNvSpPr/>
          <p:nvPr>
            <p:ph idx="106" type="chart" hasCustomPrompt="1"/>
          </p:nvPr>
        </p:nvSpPr>
        <p:spPr>
          <a:xfrm>
            <a:off x="6611112" y="347472"/>
            <a:ext cx="5029200" cy="5257800"/>
          </a:xfrm>
          <a:prstGeom prst="rect">
            <a:avLst/>
          </a:prstGeom>
          <a:noFill/>
          <a:ln/>
        </p:spPr>
        <p:txBody>
          <a:bodyPr wrap="square" lIns="0" tIns="0" rIns="0" bIns="0" rtlCol="0" anchor="ctr"/>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p:nvPr>
            <p:ph idx="107"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hart - Horizontal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11247120" cy="941832"/>
          </a:xfrm>
          <a:prstGeom prst="rect">
            <a:avLst/>
          </a:prstGeom>
          <a:noFill/>
          <a:ln/>
        </p:spPr>
        <p:txBody>
          <a:bodyPr wrap="square" rtlCol="0" anchor="t"/>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p:nvPr>
            <p:ph idx="106" type="chart" hasCustomPrompt="1"/>
          </p:nvPr>
        </p:nvSpPr>
        <p:spPr>
          <a:xfrm>
            <a:off x="566928" y="2286000"/>
            <a:ext cx="11064240" cy="3310128"/>
          </a:xfrm>
          <a:prstGeom prst="rect">
            <a:avLst/>
          </a:prstGeom>
          <a:noFill/>
          <a:ln/>
        </p:spPr>
        <p:txBody>
          <a:bodyPr wrap="square" lIns="0" tIns="0" rIns="0" bIns="0" rtlCol="0" anchor="ctr"/>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p:nvPr>
            <p:ph idx="107"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hart + Statement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11247120" cy="941832"/>
          </a:xfrm>
          <a:prstGeom prst="rect">
            <a:avLst/>
          </a:prstGeom>
          <a:noFill/>
          <a:ln/>
        </p:spPr>
        <p:txBody>
          <a:bodyPr wrap="square" rtlCol="0" anchor="t"/>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p:nvPr>
            <p:ph idx="106" type="chart" hasCustomPrompt="1"/>
          </p:nvPr>
        </p:nvSpPr>
        <p:spPr>
          <a:xfrm>
            <a:off x="566928" y="2286000"/>
            <a:ext cx="5532120" cy="3310128"/>
          </a:xfrm>
          <a:prstGeom prst="rect">
            <a:avLst/>
          </a:prstGeom>
          <a:noFill/>
          <a:ln/>
        </p:spPr>
        <p:txBody>
          <a:bodyPr wrap="square" lIns="0" tIns="0" rIns="0" bIns="0" rtlCol="0" anchor="ctr"/>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9" name="Text 1"/>
          <p:cNvSpPr/>
          <p:nvPr>
            <p:ph idx="107" type="body" hasCustomPrompt="1"/>
          </p:nvPr>
        </p:nvSpPr>
        <p:spPr>
          <a:xfrm>
            <a:off x="6519672" y="2249424"/>
            <a:ext cx="5212080" cy="3401568"/>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10" name="Text 1"/>
          <p:cNvSpPr/>
          <p:nvPr>
            <p:ph idx="10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hart + Statement 3">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25296"/>
            <a:ext cx="5303520" cy="1472184"/>
          </a:xfrm>
          <a:prstGeom prst="rect">
            <a:avLst/>
          </a:prstGeom>
          <a:noFill/>
          <a:ln/>
        </p:spPr>
        <p:txBody>
          <a:bodyPr wrap="square" rtlCol="0" anchor="t"/>
          <a:lstStyle>
            <a:lvl1pPr algn="l" indent="0" marL="0">
              <a:buNone/>
              <a:defRPr lang="en-US" sz="1200" dirty="0">
                <a:solidFill>
                  <a:srgbClr val="000000"/>
                </a:solidFill>
                <a:latin typeface="Arial" pitchFamily="34" charset="0"/>
                <a:ea typeface="Arial" pitchFamily="34" charset="-122"/>
                <a:cs typeface="Arial" pitchFamily="34" charset="-120"/>
              </a:defRPr>
            </a:lvl1pPr>
          </a:lstStyle>
          <a:p>
            <a:pPr algn="l" indent="0" marL="0">
              <a:buNone/>
            </a:pPr>
            <a:r>
              <a:rPr lang="en-US" sz="1200" dirty="0">
                <a:solidFill>
                  <a:srgbClr val="000000"/>
                </a:solidFill>
                <a:latin typeface="Arial" pitchFamily="34" charset="0"/>
                <a:ea typeface="Arial" pitchFamily="34" charset="-122"/>
                <a:cs typeface="Arial" pitchFamily="34" charset="-120"/>
              </a:rPr>
              <a:t>[description]</a:t>
            </a:r>
            <a:endParaRPr lang="en-US" sz="1200" dirty="0"/>
          </a:p>
        </p:txBody>
      </p:sp>
      <p:sp>
        <p:nvSpPr>
          <p:cNvPr id="8" name="Text 1"/>
          <p:cNvSpPr/>
          <p:nvPr>
            <p:ph idx="106" type="body" hasCustomPrompt="1"/>
          </p:nvPr>
        </p:nvSpPr>
        <p:spPr>
          <a:xfrm>
            <a:off x="475488" y="2788920"/>
            <a:ext cx="5303520" cy="2862072"/>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[Content]</a:t>
            </a:r>
            <a:endParaRPr lang="en-US" sz="1200" dirty="0"/>
          </a:p>
        </p:txBody>
      </p:sp>
      <p:sp>
        <p:nvSpPr>
          <p:cNvPr id="9" name="Text 1"/>
          <p:cNvSpPr/>
          <p:nvPr>
            <p:ph idx="107" type="chart" hasCustomPrompt="1"/>
          </p:nvPr>
        </p:nvSpPr>
        <p:spPr>
          <a:xfrm>
            <a:off x="6611112" y="1261872"/>
            <a:ext cx="5029200" cy="4937760"/>
          </a:xfrm>
          <a:prstGeom prst="rect">
            <a:avLst/>
          </a:prstGeom>
          <a:noFill/>
          <a:ln/>
        </p:spPr>
        <p:txBody>
          <a:bodyPr wrap="square" lIns="0" tIns="0" rIns="0" bIns="0" rtlCol="0" anchor="ctr"/>
          <a:lstStyle>
            <a:lvl1pPr algn="ctr" indent="0" marL="0">
              <a:buNone/>
              <a:defRPr lang="en-US" sz="950" dirty="0">
                <a:solidFill>
                  <a:srgbClr val="FFFFFF"/>
                </a:solidFill>
                <a:latin typeface="Arial" pitchFamily="34" charset="0"/>
                <a:ea typeface="Arial" pitchFamily="34" charset="-122"/>
                <a:cs typeface="Arial" pitchFamily="34" charset="-120"/>
              </a:defRPr>
            </a:lvl1pPr>
          </a:lstStyle>
          <a:p>
            <a:pPr algn="ctr" indent="0" marL="0">
              <a:buNone/>
            </a:pPr>
            <a:r>
              <a:rPr lang="en-US" sz="950" dirty="0">
                <a:solidFill>
                  <a:srgbClr val="FFFFFF"/>
                </a:solidFill>
                <a:latin typeface="Arial" pitchFamily="34" charset="0"/>
                <a:ea typeface="Arial" pitchFamily="34" charset="-122"/>
                <a:cs typeface="Arial" pitchFamily="34" charset="-120"/>
              </a:rPr>
              <a:t>[chartData]</a:t>
            </a:r>
            <a:endParaRPr lang="en-US" sz="950" dirty="0"/>
          </a:p>
        </p:txBody>
      </p:sp>
      <p:sp>
        <p:nvSpPr>
          <p:cNvPr id="10" name="Text 1"/>
          <p:cNvSpPr/>
          <p:nvPr>
            <p:ph idx="10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475488" y="5733288"/>
            <a:ext cx="53035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tatement Photo">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0" y="0"/>
            <a:ext cx="12188952" cy="6858000"/>
          </a:xfrm>
          <a:prstGeom prst="rect">
            <a:avLst/>
          </a:prstGeom>
          <a:noFill/>
          <a:ln/>
        </p:spPr>
        <p:txBody>
          <a:bodyPr wrap="square" rtlCol="0"/>
          <a:lstStyle>
            <a:lvl1pPr indent="0" marL="0">
              <a:buNone/>
              <a:defRPr lang="en-US" dirty="0"/>
            </a:lvl1pPr>
          </a:lstStyle>
          <a:p>
            <a:pPr indent="0" marL="0">
              <a:buNone/>
            </a:pPr>
            <a:endParaRPr lang="en-US" dirty="0"/>
          </a:p>
        </p:txBody>
      </p:sp>
      <p:pic>
        <p:nvPicPr>
          <p:cNvPr id="3" name="Image 0" descr="https://snp-mediaportal.qbank.se/assets/deployedFiles/a26f9ea4d6285a32e0deb120994276e6.png">    </p:cNvPr>
          <p:cNvPicPr>
            <a:picLocks noChangeAspect="1"/>
          </p:cNvPicPr>
          <p:nvPr/>
        </p:nvPicPr>
        <p:blipFill>
          <a:blip r:embed="rId1"/>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p:txBody>
      </p:sp>
      <p:sp>
        <p:nvSpPr>
          <p:cNvPr id="5" name="Text 1"/>
          <p:cNvSpPr/>
          <p:nvPr>
            <p:ph idx="103"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6" name="Text 1"/>
          <p:cNvSpPr/>
          <p:nvPr>
            <p:ph idx="104" type="body" hasCustomPrompt="1"/>
          </p:nvPr>
        </p:nvSpPr>
        <p:spPr>
          <a:xfrm>
            <a:off x="475488" y="603504"/>
            <a:ext cx="11247120" cy="5138928"/>
          </a:xfrm>
          <a:prstGeom prst="rect">
            <a:avLst/>
          </a:prstGeom>
          <a:noFill/>
          <a:ln/>
        </p:spPr>
        <p:txBody>
          <a:bodyPr wrap="square" rtlCol="0" anchor="ctr"/>
          <a:lstStyle>
            <a:lvl1pPr algn="l" indent="0" marL="0">
              <a:buNone/>
              <a:defRPr lang="en-US" sz="3600" dirty="0">
                <a:solidFill>
                  <a:srgbClr val="FFFFFF"/>
                </a:solidFill>
                <a:latin typeface="Arial" pitchFamily="34" charset="0"/>
                <a:ea typeface="Arial" pitchFamily="34" charset="-122"/>
                <a:cs typeface="Arial" pitchFamily="34" charset="-120"/>
              </a:defRPr>
            </a:lvl1pPr>
          </a:lstStyle>
          <a:p>
            <a:pPr algn="l" indent="0" marL="0">
              <a:buNone/>
            </a:pPr>
            <a:r>
              <a:rPr lang="en-US" sz="3600" dirty="0">
                <a:solidFill>
                  <a:srgbClr val="FFFFFF"/>
                </a:solidFill>
                <a:latin typeface="Arial" pitchFamily="34" charset="0"/>
                <a:ea typeface="Arial" pitchFamily="34" charset="-122"/>
                <a:cs typeface="Arial" pitchFamily="34" charset="-120"/>
              </a:rPr>
              <a:t>[Add statement]</a:t>
            </a:r>
            <a:endParaRPr lang="en-US" sz="3600" dirty="0"/>
          </a:p>
        </p:txBody>
      </p:sp>
      <p:sp>
        <p:nvSpPr>
          <p:cNvPr id="7" name="Text 1"/>
          <p:cNvSpPr/>
          <p:nvPr>
            <p:ph idx="105"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tatement Black">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fd6ac17e8cb753e1865b09a3b5a17939.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5" name="Text 1"/>
          <p:cNvSpPr/>
          <p:nvPr>
            <p:ph idx="103" type="body" hasCustomPrompt="1"/>
          </p:nvPr>
        </p:nvSpPr>
        <p:spPr>
          <a:xfrm>
            <a:off x="475488" y="603504"/>
            <a:ext cx="11247120" cy="5138928"/>
          </a:xfrm>
          <a:prstGeom prst="rect">
            <a:avLst/>
          </a:prstGeom>
          <a:noFill/>
          <a:ln/>
        </p:spPr>
        <p:txBody>
          <a:bodyPr wrap="square" rtlCol="0" anchor="ctr"/>
          <a:lstStyle>
            <a:lvl1pPr algn="l" indent="0" marL="0">
              <a:buNone/>
              <a:defRPr lang="en-US" sz="3600" dirty="0">
                <a:solidFill>
                  <a:srgbClr val="FFFFFF"/>
                </a:solidFill>
                <a:latin typeface="Arial" pitchFamily="34" charset="0"/>
                <a:ea typeface="Arial" pitchFamily="34" charset="-122"/>
                <a:cs typeface="Arial" pitchFamily="34" charset="-120"/>
              </a:defRPr>
            </a:lvl1pPr>
          </a:lstStyle>
          <a:p>
            <a:pPr algn="l" indent="0" marL="0">
              <a:buNone/>
            </a:pPr>
            <a:r>
              <a:rPr lang="en-US" sz="3600" dirty="0">
                <a:solidFill>
                  <a:srgbClr val="FFFFFF"/>
                </a:solidFill>
                <a:latin typeface="Arial" pitchFamily="34" charset="0"/>
                <a:ea typeface="Arial" pitchFamily="34" charset="-122"/>
                <a:cs typeface="Arial" pitchFamily="34" charset="-120"/>
              </a:rPr>
              <a:t>[Add statement]</a:t>
            </a:r>
            <a:endParaRPr lang="en-US" sz="3600" dirty="0"/>
          </a:p>
        </p:txBody>
      </p:sp>
      <p:sp>
        <p:nvSpPr>
          <p:cNvPr id="6" name="Text 1"/>
          <p:cNvSpPr/>
          <p:nvPr>
            <p:ph idx="104"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tatement White">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body" hasCustomPrompt="1"/>
          </p:nvPr>
        </p:nvSpPr>
        <p:spPr>
          <a:xfrm>
            <a:off x="475488" y="603504"/>
            <a:ext cx="11247120" cy="5138928"/>
          </a:xfrm>
          <a:prstGeom prst="rect">
            <a:avLst/>
          </a:prstGeom>
          <a:noFill/>
          <a:ln/>
        </p:spPr>
        <p:txBody>
          <a:bodyPr wrap="square" rtlCol="0" anchor="ctr"/>
          <a:lstStyle>
            <a:lvl1pPr algn="l" indent="0" marL="0">
              <a:buNone/>
              <a:defRPr lang="en-US" sz="3600" dirty="0">
                <a:solidFill>
                  <a:srgbClr val="000000"/>
                </a:solidFill>
                <a:latin typeface="Arial" pitchFamily="34" charset="0"/>
                <a:ea typeface="Arial" pitchFamily="34" charset="-122"/>
                <a:cs typeface="Arial" pitchFamily="34" charset="-120"/>
              </a:defRPr>
            </a:lvl1pPr>
          </a:lstStyle>
          <a:p>
            <a:pPr algn="l" indent="0" marL="0">
              <a:buNone/>
            </a:pPr>
            <a:r>
              <a:rPr lang="en-US" sz="3600" dirty="0">
                <a:solidFill>
                  <a:srgbClr val="000000"/>
                </a:solidFill>
                <a:latin typeface="Arial" pitchFamily="34" charset="0"/>
                <a:ea typeface="Arial" pitchFamily="34" charset="-122"/>
                <a:cs typeface="Arial" pitchFamily="34" charset="-120"/>
              </a:rPr>
              <a:t>[Add statement]</a:t>
            </a:r>
            <a:endParaRPr lang="en-US" sz="3600" dirty="0"/>
          </a:p>
        </p:txBody>
      </p:sp>
      <p:sp>
        <p:nvSpPr>
          <p:cNvPr id="6" name="Text 1"/>
          <p:cNvSpPr/>
          <p:nvPr>
            <p:ph idx="104"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Section Header">
    <p:bg>
      <p:bgPr>
        <a:solidFill>
          <a:srgbClr val="000000"/>
        </a:solidFill>
      </p:bgPr>
    </p:bg>
    <p:spTree>
      <p:nvGrpSpPr>
        <p:cNvPr id="1" name=""/>
        <p:cNvGrpSpPr/>
        <p:nvPr/>
      </p:nvGrpSpPr>
      <p:grpSpPr>
        <a:xfrm>
          <a:off x="0" y="0"/>
          <a:ext cx="0" cy="0"/>
          <a:chOff x="0" y="0"/>
          <a:chExt cx="0" cy="0"/>
        </a:xfrm>
      </p:grpSpPr>
      <p:pic>
        <p:nvPicPr>
          <p:cNvPr id="2" name="Image 0" descr="https://snp-mediaportal.qbank.se/assets/deployedFiles/fd6ac17e8cb753e1865b09a3b5a17939.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66344" y="411480"/>
            <a:ext cx="5303520" cy="4846320"/>
          </a:xfrm>
          <a:prstGeom prst="rect">
            <a:avLst/>
          </a:prstGeom>
          <a:noFill/>
          <a:ln/>
        </p:spPr>
        <p:txBody>
          <a:bodyPr wrap="square" rtlCol="0" anchor="ctr"/>
          <a:lstStyle>
            <a:lvl1pPr algn="l" indent="0" marL="0">
              <a:buNone/>
              <a:defRPr lang="en-US" sz="4000" dirty="0">
                <a:solidFill>
                  <a:srgbClr val="FFFFFF"/>
                </a:solidFill>
                <a:latin typeface="Arial" pitchFamily="34" charset="0"/>
                <a:ea typeface="Arial" pitchFamily="34" charset="-122"/>
                <a:cs typeface="Arial" pitchFamily="34" charset="-120"/>
              </a:defRPr>
            </a:lvl1pPr>
          </a:lstStyle>
          <a:p>
            <a:pPr algn="l" indent="0" marL="0">
              <a:buNone/>
            </a:pPr>
            <a:r>
              <a:rPr lang="en-US" sz="4000" dirty="0">
                <a:solidFill>
                  <a:srgbClr val="FFFFFF"/>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466344" y="5276088"/>
            <a:ext cx="5303520" cy="813816"/>
          </a:xfrm>
          <a:prstGeom prst="rect">
            <a:avLst/>
          </a:prstGeom>
          <a:noFill/>
          <a:ln/>
        </p:spPr>
        <p:txBody>
          <a:bodyPr wrap="square" rtlCol="0" anchor="b"/>
          <a:lstStyle>
            <a:lvl1pPr algn="l" indent="0" marL="0">
              <a:buNone/>
              <a:defRPr lang="en-US" sz="1600" dirty="0">
                <a:solidFill>
                  <a:srgbClr val="FFFFFF"/>
                </a:solidFill>
                <a:latin typeface="Arial" pitchFamily="34" charset="0"/>
                <a:ea typeface="Arial" pitchFamily="34" charset="-122"/>
                <a:cs typeface="Arial" pitchFamily="34" charset="-120"/>
              </a:defRPr>
            </a:lvl1pPr>
          </a:lstStyle>
          <a:p>
            <a:pPr algn="l" indent="0" marL="0">
              <a:buNone/>
            </a:pPr>
            <a:r>
              <a:rPr lang="en-US" sz="1600" dirty="0">
                <a:solidFill>
                  <a:srgbClr val="FFFFFF"/>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hasCustomPrompt="1"/>
          </p:nvPr>
        </p:nvSpPr>
        <p:spPr>
          <a:xfrm>
            <a:off x="6099048" y="484632"/>
            <a:ext cx="6089904" cy="555955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FFFFFF"/>
                </a:solidFill>
                <a:latin typeface="Arial" pitchFamily="34" charset="0"/>
                <a:ea typeface="Arial" pitchFamily="34" charset="-122"/>
                <a:cs typeface="Arial" pitchFamily="34" charset="-120"/>
              </a:defRPr>
            </a:lvl1pPr>
          </a:lstStyle>
          <a:p>
            <a:pPr algn="r" indent="0" marL="0">
              <a:buNone/>
            </a:pPr>
            <a:r>
              <a:rPr lang="en-US" sz="900" dirty="0">
                <a:solidFill>
                  <a:srgbClr val="FFFFFF"/>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ivider 4 Photo">
    <p:bg>
      <p:bgPr>
        <a:solidFill>
          <a:srgbClr val="C7DAE0"/>
        </a:solidFill>
      </p:bgPr>
    </p:bg>
    <p:spTree>
      <p:nvGrpSpPr>
        <p:cNvPr id="1" name=""/>
        <p:cNvGrpSpPr/>
        <p:nvPr/>
      </p:nvGrpSpPr>
      <p:grpSpPr>
        <a:xfrm>
          <a:off x="0" y="0"/>
          <a:ext cx="0" cy="0"/>
          <a:chOff x="0" y="0"/>
          <a:chExt cx="0" cy="0"/>
        </a:xfrm>
      </p:grpSpPr>
      <p:pic>
        <p:nvPicPr>
          <p:cNvPr id="2" name="Image 0" descr="https://snp-mediaportal.qbank.se/assets/deployedFiles/0171221a07b0be1374ebaa6bc786f2b5.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66344" y="411480"/>
            <a:ext cx="5303520" cy="4846320"/>
          </a:xfrm>
          <a:prstGeom prst="rect">
            <a:avLst/>
          </a:prstGeom>
          <a:noFill/>
          <a:ln/>
        </p:spPr>
        <p:txBody>
          <a:bodyPr wrap="square" rtlCol="0" anchor="ctr"/>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466344" y="5276088"/>
            <a:ext cx="5303520" cy="813816"/>
          </a:xfrm>
          <a:prstGeom prst="rect">
            <a:avLst/>
          </a:prstGeom>
          <a:noFill/>
          <a:ln/>
        </p:spPr>
        <p:txBody>
          <a:bodyPr wrap="square" rtlCol="0" anchor="b"/>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hasCustomPrompt="1"/>
          </p:nvPr>
        </p:nvSpPr>
        <p:spPr>
          <a:xfrm>
            <a:off x="6099048" y="484632"/>
            <a:ext cx="6089904" cy="555955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8" name="Text 1"/>
          <p:cNvSpPr/>
          <p:nvPr>
            <p:ph idx="106"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ivider 1">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66344" y="1911096"/>
            <a:ext cx="4059936" cy="3529584"/>
          </a:xfrm>
          <a:prstGeom prst="rect">
            <a:avLst/>
          </a:prstGeom>
          <a:noFill/>
          <a:ln/>
        </p:spPr>
        <p:txBody>
          <a:bodyPr wrap="square" rtlCol="0" anchor="ctr"/>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466344" y="5449824"/>
            <a:ext cx="4059936" cy="813816"/>
          </a:xfrm>
          <a:prstGeom prst="rect">
            <a:avLst/>
          </a:prstGeom>
          <a:noFill/>
          <a:ln/>
        </p:spPr>
        <p:txBody>
          <a:bodyPr wrap="square" rtlCol="0" anchor="b"/>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type="body" hasCustomPrompt="1"/>
          </p:nvPr>
        </p:nvSpPr>
        <p:spPr>
          <a:xfrm>
            <a:off x="6519672" y="1901952"/>
            <a:ext cx="5212080" cy="4434840"/>
          </a:xfrm>
          <a:prstGeom prst="rect">
            <a:avLst/>
          </a:prstGeom>
          <a:noFill/>
          <a:ln/>
        </p:spPr>
        <p:txBody>
          <a:bodyPr wrap="square" rtlCol="0" anchor="t"/>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text]</a:t>
            </a:r>
            <a:endParaRPr lang="en-US" sz="1600" dirty="0"/>
          </a:p>
        </p:txBody>
      </p:sp>
      <p:sp>
        <p:nvSpPr>
          <p:cNvPr id="8" name="Text 1"/>
          <p:cNvSpPr/>
          <p:nvPr>
            <p:ph idx="106"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Divider 2">
    <p:bg>
      <p:bgPr>
        <a:solidFill>
          <a:srgbClr val="C7DAE0"/>
        </a:solidFill>
      </p:bgPr>
    </p:bg>
    <p:spTree>
      <p:nvGrpSpPr>
        <p:cNvPr id="1" name=""/>
        <p:cNvGrpSpPr/>
        <p:nvPr/>
      </p:nvGrpSpPr>
      <p:grpSpPr>
        <a:xfrm>
          <a:off x="0" y="0"/>
          <a:ext cx="0" cy="0"/>
          <a:chOff x="0" y="0"/>
          <a:chExt cx="0" cy="0"/>
        </a:xfrm>
      </p:grpSpPr>
      <p:pic>
        <p:nvPicPr>
          <p:cNvPr id="2" name="Image 0" descr="https://snp-mediaportal.qbank.se/assets/deployedFiles/0171221a07b0be1374ebaa6bc786f2b5.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66344" y="1911096"/>
            <a:ext cx="4059936" cy="3529584"/>
          </a:xfrm>
          <a:prstGeom prst="rect">
            <a:avLst/>
          </a:prstGeom>
          <a:noFill/>
          <a:ln/>
        </p:spPr>
        <p:txBody>
          <a:bodyPr wrap="square" rtlCol="0" anchor="ctr"/>
          <a:lstStyle>
            <a:lvl1pPr algn="l" indent="0" marL="0">
              <a:buNone/>
              <a:defRPr lang="en-US" sz="4000" dirty="0">
                <a:solidFill>
                  <a:srgbClr val="000000"/>
                </a:solidFill>
                <a:latin typeface="Arial" pitchFamily="34" charset="0"/>
                <a:ea typeface="Arial" pitchFamily="34" charset="-122"/>
                <a:cs typeface="Arial" pitchFamily="34" charset="-120"/>
              </a:defRPr>
            </a:lvl1pPr>
          </a:lstStyle>
          <a:p>
            <a:pPr algn="l" indent="0" marL="0">
              <a:buNone/>
            </a:pPr>
            <a:r>
              <a:rPr lang="en-US" sz="4000" dirty="0">
                <a:solidFill>
                  <a:srgbClr val="000000"/>
                </a:solidFill>
                <a:latin typeface="Arial" pitchFamily="34" charset="0"/>
                <a:ea typeface="Arial" pitchFamily="34" charset="-122"/>
                <a:cs typeface="Arial" pitchFamily="34" charset="-120"/>
              </a:rPr>
              <a:t>[Add divider slide title]</a:t>
            </a:r>
            <a:endParaRPr lang="en-US" sz="4000" dirty="0"/>
          </a:p>
        </p:txBody>
      </p:sp>
      <p:sp>
        <p:nvSpPr>
          <p:cNvPr id="6" name="Text 1"/>
          <p:cNvSpPr/>
          <p:nvPr>
            <p:ph idx="104" type="body" hasCustomPrompt="1"/>
          </p:nvPr>
        </p:nvSpPr>
        <p:spPr>
          <a:xfrm>
            <a:off x="466344" y="5449824"/>
            <a:ext cx="4059936" cy="813816"/>
          </a:xfrm>
          <a:prstGeom prst="rect">
            <a:avLst/>
          </a:prstGeom>
          <a:noFill/>
          <a:ln/>
        </p:spPr>
        <p:txBody>
          <a:bodyPr wrap="square" rtlCol="0" anchor="b"/>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[Optional, Author First and Last Name]</a:t>
            </a:r>
            <a:endParaRPr lang="en-US" sz="1600" dirty="0"/>
          </a:p>
        </p:txBody>
      </p:sp>
      <p:sp>
        <p:nvSpPr>
          <p:cNvPr id="7" name="Text 1"/>
          <p:cNvSpPr/>
          <p:nvPr>
            <p:ph idx="105" type="body" hasCustomPrompt="1"/>
          </p:nvPr>
        </p:nvSpPr>
        <p:spPr>
          <a:xfrm>
            <a:off x="6519672" y="1901952"/>
            <a:ext cx="5212080" cy="4434840"/>
          </a:xfrm>
          <a:prstGeom prst="rect">
            <a:avLst/>
          </a:prstGeom>
          <a:noFill/>
          <a:ln/>
        </p:spPr>
        <p:txBody>
          <a:bodyPr wrap="square" rtlCol="0" anchor="t"/>
          <a:lstStyle>
            <a:lvl1pPr algn="l" indent="0" marL="0">
              <a:spcAft>
                <a:spcPts val="600"/>
              </a:spcAft>
              <a:buNone/>
              <a:defRPr lang="en-US" sz="16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600" dirty="0">
                <a:solidFill>
                  <a:srgbClr val="000000"/>
                </a:solidFill>
                <a:latin typeface="Arial" pitchFamily="34" charset="0"/>
                <a:ea typeface="Arial" pitchFamily="34" charset="-122"/>
                <a:cs typeface="Arial" pitchFamily="34" charset="-120"/>
              </a:rPr>
              <a:t>[Click to add text]</a:t>
            </a:r>
            <a:endParaRPr lang="en-US" sz="1600" dirty="0"/>
          </a:p>
        </p:txBody>
      </p:sp>
      <p:sp>
        <p:nvSpPr>
          <p:cNvPr id="8" name="Text 1"/>
          <p:cNvSpPr/>
          <p:nvPr>
            <p:ph idx="106"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wo Placeholde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07008"/>
            <a:ext cx="1124712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475488" y="3621024"/>
            <a:ext cx="1124712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0" name="Text 1"/>
          <p:cNvSpPr/>
          <p:nvPr>
            <p:ph idx="108"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hree Placeholders 1">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07008"/>
            <a:ext cx="352044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4343400" y="1207008"/>
            <a:ext cx="352044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8211312" y="1207008"/>
            <a:ext cx="352044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hree Placeholders 2">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07008"/>
            <a:ext cx="5212080" cy="443484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501384" y="1207008"/>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6501384" y="3611880"/>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ree Placeholders 3">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07008"/>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501384" y="1207008"/>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475488" y="3611880"/>
            <a:ext cx="1124712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1" name="Text 1"/>
          <p:cNvSpPr/>
          <p:nvPr>
            <p:ph idx="109"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Four Placeholde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[Headline - one line max]</a:t>
            </a:r>
            <a:endParaRPr lang="en-US" sz="2400" dirty="0"/>
          </a:p>
        </p:txBody>
      </p:sp>
      <p:sp>
        <p:nvSpPr>
          <p:cNvPr id="6" name="Text 1"/>
          <p:cNvSpPr/>
          <p:nvPr>
            <p:ph idx="104" type="body" hasCustomPrompt="1"/>
          </p:nvPr>
        </p:nvSpPr>
        <p:spPr>
          <a:xfrm>
            <a:off x="475488" y="896112"/>
            <a:ext cx="11247120" cy="28346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[Subheadline - one line max]</a:t>
            </a:r>
            <a:endParaRPr lang="en-US" sz="1800" dirty="0"/>
          </a:p>
        </p:txBody>
      </p:sp>
      <p:sp>
        <p:nvSpPr>
          <p:cNvPr id="7" name="Text 1"/>
          <p:cNvSpPr/>
          <p:nvPr>
            <p:ph idx="105" type="body" hasCustomPrompt="1"/>
          </p:nvPr>
        </p:nvSpPr>
        <p:spPr>
          <a:xfrm>
            <a:off x="475488" y="1207008"/>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8" name="Text 1"/>
          <p:cNvSpPr/>
          <p:nvPr>
            <p:ph idx="106" type="body" hasCustomPrompt="1"/>
          </p:nvPr>
        </p:nvSpPr>
        <p:spPr>
          <a:xfrm>
            <a:off x="6501384" y="1207008"/>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9" name="Text 1"/>
          <p:cNvSpPr/>
          <p:nvPr>
            <p:ph idx="107" type="body" hasCustomPrompt="1"/>
          </p:nvPr>
        </p:nvSpPr>
        <p:spPr>
          <a:xfrm>
            <a:off x="475488" y="3611880"/>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0" name="Text 1"/>
          <p:cNvSpPr/>
          <p:nvPr>
            <p:ph idx="108" type="body" hasCustomPrompt="1"/>
          </p:nvPr>
        </p:nvSpPr>
        <p:spPr>
          <a:xfrm>
            <a:off x="6501384" y="3611880"/>
            <a:ext cx="5212080" cy="2011680"/>
          </a:xfrm>
          <a:prstGeom prst="rect">
            <a:avLst/>
          </a:prstGeom>
          <a:noFill/>
          <a:ln/>
        </p:spPr>
        <p:txBody>
          <a:bodyPr wrap="square" rtlCol="0" anchor="t"/>
          <a:lstStyle>
            <a:lvl1pPr algn="l" indent="0" marL="0">
              <a:spcAft>
                <a:spcPts val="600"/>
              </a:spcAft>
              <a:buNone/>
              <a:defRPr lang="en-US" sz="1200" dirty="0">
                <a:solidFill>
                  <a:srgbClr val="000000"/>
                </a:solidFill>
                <a:latin typeface="Arial" pitchFamily="34" charset="0"/>
                <a:ea typeface="Arial" pitchFamily="34" charset="-122"/>
                <a:cs typeface="Arial" pitchFamily="34" charset="-120"/>
              </a:defRPr>
            </a:lvl1pPr>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[Click to add content]</a:t>
            </a:r>
            <a:endParaRPr lang="en-US" sz="1200" dirty="0"/>
          </a:p>
        </p:txBody>
      </p:sp>
      <p:sp>
        <p:nvSpPr>
          <p:cNvPr id="11" name="Text 1"/>
          <p:cNvSpPr/>
          <p:nvPr>
            <p:ph idx="109" type="body" hasCustomPrompt="1"/>
          </p:nvPr>
        </p:nvSpPr>
        <p:spPr>
          <a:xfrm>
            <a:off x="6016752" y="0"/>
            <a:ext cx="5715000" cy="320040"/>
          </a:xfrm>
          <a:prstGeom prst="rect">
            <a:avLst/>
          </a:prstGeom>
          <a:noFill/>
          <a:ln/>
        </p:spPr>
        <p:txBody>
          <a:bodyPr wrap="square" rtlCol="0" anchor="ctr"/>
          <a:lstStyle>
            <a:lvl1pPr algn="r" indent="0" marL="0">
              <a:buNone/>
              <a:defRPr lang="en-US" sz="900" dirty="0">
                <a:solidFill>
                  <a:srgbClr val="000000"/>
                </a:solidFill>
                <a:latin typeface="Arial" pitchFamily="34" charset="0"/>
                <a:ea typeface="Arial" pitchFamily="34" charset="-122"/>
                <a:cs typeface="Arial" pitchFamily="34" charset="-120"/>
              </a:defRPr>
            </a:lvl1pPr>
          </a:lstStyle>
          <a:p>
            <a:pPr algn="r" indent="0" marL="0">
              <a:buNone/>
            </a:pPr>
            <a:r>
              <a:rPr lang="en-US" sz="900" dirty="0">
                <a:solidFill>
                  <a:srgbClr val="000000"/>
                </a:solidFill>
                <a:latin typeface="Arial" pitchFamily="34" charset="0"/>
                <a:ea typeface="Arial" pitchFamily="34" charset="-122"/>
                <a:cs typeface="Arial" pitchFamily="34" charset="-120"/>
              </a:rPr>
              <a:t>[Section name (optional) / Presentation title / Month Year]</a:t>
            </a:r>
            <a:endParaRPr lang="en-US" sz="900" dirty="0"/>
          </a:p>
        </p:txBody>
      </p:sp>
      <p:sp>
        <p:nvSpPr>
          <p:cNvPr id="12" name="Text 1"/>
          <p:cNvSpPr/>
          <p:nvPr>
            <p:ph idx="110" type="body" hasCustomPrompt="1"/>
          </p:nvPr>
        </p:nvSpPr>
        <p:spPr>
          <a:xfrm>
            <a:off x="475488" y="5733288"/>
            <a:ext cx="11247120" cy="530352"/>
          </a:xfrm>
          <a:prstGeom prst="rect">
            <a:avLst/>
          </a:prstGeom>
          <a:noFill/>
          <a:ln/>
        </p:spPr>
        <p:txBody>
          <a:bodyPr wrap="square" rtlCol="0" anchor="b"/>
          <a:lstStyle>
            <a:lvl1pPr algn="l" indent="0" marL="0">
              <a:buNone/>
              <a:defRPr lang="en-US" sz="700" dirty="0">
                <a:solidFill>
                  <a:srgbClr val="000000"/>
                </a:solidFill>
                <a:latin typeface="Arial" pitchFamily="34" charset="0"/>
                <a:ea typeface="Arial" pitchFamily="34" charset="-122"/>
                <a:cs typeface="Arial" pitchFamily="34" charset="-120"/>
              </a:defRPr>
            </a:lvl1pPr>
          </a:lstStyle>
          <a:p>
            <a:pPr algn="l" indent="0" marL="0">
              <a:buNone/>
            </a:pPr>
            <a:r>
              <a:rPr lang="en-US" sz="700" dirty="0">
                <a:solidFill>
                  <a:srgbClr val="000000"/>
                </a:solidFill>
                <a:latin typeface="Arial" pitchFamily="34" charset="0"/>
                <a:ea typeface="Arial" pitchFamily="34" charset="-122"/>
                <a:cs typeface="Arial" pitchFamily="34" charset="-120"/>
              </a:rPr>
              <a:t>[Source / Legal disclaimer / Footnote]</a:t>
            </a:r>
            <a:endParaRPr lang="en-US" sz="700"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Single Author">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[Presenter/Moderator/Panelist]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3054096" y="1847088"/>
            <a:ext cx="8677656" cy="2276856"/>
          </a:xfrm>
          <a:prstGeom prst="rect">
            <a:avLst/>
          </a:prstGeom>
          <a:noFill/>
          <a:ln/>
        </p:spPr>
        <p:txBody>
          <a:bodyPr wrap="square" rtlCol="0" anchor="ctr"/>
          <a:lstStyle>
            <a:lvl1pPr algn="l" indent="0" marL="0">
              <a:buNone/>
              <a:defRPr lang="en-US" sz="1600" dirty="0">
                <a:solidFill>
                  <a:srgbClr val="000000"/>
                </a:solidFill>
                <a:latin typeface="Arial" pitchFamily="34" charset="0"/>
                <a:ea typeface="Arial" pitchFamily="34" charset="-122"/>
                <a:cs typeface="Arial" pitchFamily="34" charset="-120"/>
              </a:defRPr>
            </a:lvl1pPr>
          </a:lstStyle>
          <a:p>
            <a:pPr algn="l" indent="0" marL="0">
              <a:buNone/>
            </a:pPr>
            <a:r>
              <a:rPr lang="en-US" sz="1600" dirty="0">
                <a:solidFill>
                  <a:srgbClr val="000000"/>
                </a:solidFill>
                <a:latin typeface="Arial" pitchFamily="34" charset="0"/>
                <a:ea typeface="Arial" pitchFamily="34" charset="-122"/>
                <a:cs typeface="Arial" pitchFamily="34" charset="-120"/>
              </a:rPr>
              <a:t>[Copy and paste the first paragraph of your bio here]</a:t>
            </a:r>
            <a:endParaRPr lang="en-US" sz="1600" dirty="0"/>
          </a:p>
        </p:txBody>
      </p:sp>
      <p:sp>
        <p:nvSpPr>
          <p:cNvPr id="8" name="Text 1"/>
          <p:cNvSpPr/>
          <p:nvPr>
            <p:ph idx="106" type="body" hasCustomPrompt="1"/>
          </p:nvPr>
        </p:nvSpPr>
        <p:spPr>
          <a:xfrm>
            <a:off x="475488" y="4261104"/>
            <a:ext cx="5513832"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9" name="Text 1"/>
          <p:cNvSpPr/>
          <p:nvPr>
            <p:ph idx="107" type="body" hasCustomPrompt="1"/>
          </p:nvPr>
        </p:nvSpPr>
        <p:spPr>
          <a:xfrm>
            <a:off x="475488" y="4654296"/>
            <a:ext cx="5513832"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0" name="Text 1"/>
          <p:cNvSpPr/>
          <p:nvPr>
            <p:ph idx="108" type="body" hasCustomPrompt="1"/>
          </p:nvPr>
        </p:nvSpPr>
        <p:spPr>
          <a:xfrm>
            <a:off x="475488" y="5120640"/>
            <a:ext cx="5513832"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 Autho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475488" y="4261104"/>
            <a:ext cx="5513832"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p:nvPr>
            <p:ph idx="106" type="body" hasCustomPrompt="1"/>
          </p:nvPr>
        </p:nvSpPr>
        <p:spPr>
          <a:xfrm>
            <a:off x="475488" y="4654296"/>
            <a:ext cx="5513832"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p:nvPr>
            <p:ph idx="107" type="body" hasCustomPrompt="1"/>
          </p:nvPr>
        </p:nvSpPr>
        <p:spPr>
          <a:xfrm>
            <a:off x="475488" y="5120640"/>
            <a:ext cx="5513832"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p:nvPr>
            <p:ph idx="108" hasCustomPrompt="1"/>
          </p:nvPr>
        </p:nvSpPr>
        <p:spPr>
          <a:xfrm>
            <a:off x="6528816"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1" name="Text 1"/>
          <p:cNvSpPr/>
          <p:nvPr>
            <p:ph idx="109" type="body" hasCustomPrompt="1"/>
          </p:nvPr>
        </p:nvSpPr>
        <p:spPr>
          <a:xfrm>
            <a:off x="6428232" y="4261104"/>
            <a:ext cx="5513832"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p:nvPr>
            <p:ph idx="110" type="body" hasCustomPrompt="1"/>
          </p:nvPr>
        </p:nvSpPr>
        <p:spPr>
          <a:xfrm>
            <a:off x="6428232" y="4654296"/>
            <a:ext cx="5513832"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p:nvPr>
            <p:ph idx="111" type="body" hasCustomPrompt="1"/>
          </p:nvPr>
        </p:nvSpPr>
        <p:spPr>
          <a:xfrm>
            <a:off x="6428232" y="5120640"/>
            <a:ext cx="5513832"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3 Autho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475488" y="4261104"/>
            <a:ext cx="3575304"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p:nvPr>
            <p:ph idx="106" type="body" hasCustomPrompt="1"/>
          </p:nvPr>
        </p:nvSpPr>
        <p:spPr>
          <a:xfrm>
            <a:off x="475488" y="4654296"/>
            <a:ext cx="3575304"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p:nvPr>
            <p:ph idx="107" type="body" hasCustomPrompt="1"/>
          </p:nvPr>
        </p:nvSpPr>
        <p:spPr>
          <a:xfrm>
            <a:off x="475488" y="5120640"/>
            <a:ext cx="3575304"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p:nvPr>
            <p:ph idx="108" hasCustomPrompt="1"/>
          </p:nvPr>
        </p:nvSpPr>
        <p:spPr>
          <a:xfrm>
            <a:off x="44531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1" name="Text 1"/>
          <p:cNvSpPr/>
          <p:nvPr>
            <p:ph idx="109" type="body" hasCustomPrompt="1"/>
          </p:nvPr>
        </p:nvSpPr>
        <p:spPr>
          <a:xfrm>
            <a:off x="4334256" y="4261104"/>
            <a:ext cx="3575304"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p:nvPr>
            <p:ph idx="110" type="body" hasCustomPrompt="1"/>
          </p:nvPr>
        </p:nvSpPr>
        <p:spPr>
          <a:xfrm>
            <a:off x="4334256" y="4654296"/>
            <a:ext cx="3575304"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p:nvPr>
            <p:ph idx="111" type="body" hasCustomPrompt="1"/>
          </p:nvPr>
        </p:nvSpPr>
        <p:spPr>
          <a:xfrm>
            <a:off x="4334256" y="5120640"/>
            <a:ext cx="3575304"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4" name="Text 1"/>
          <p:cNvSpPr/>
          <p:nvPr>
            <p:ph idx="112" hasCustomPrompt="1"/>
          </p:nvPr>
        </p:nvSpPr>
        <p:spPr>
          <a:xfrm>
            <a:off x="8229600"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5" name="Text 1"/>
          <p:cNvSpPr/>
          <p:nvPr>
            <p:ph idx="113" type="body" hasCustomPrompt="1"/>
          </p:nvPr>
        </p:nvSpPr>
        <p:spPr>
          <a:xfrm>
            <a:off x="8129016" y="4261104"/>
            <a:ext cx="3575304"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6" name="Text 1"/>
          <p:cNvSpPr/>
          <p:nvPr>
            <p:ph idx="114" type="body" hasCustomPrompt="1"/>
          </p:nvPr>
        </p:nvSpPr>
        <p:spPr>
          <a:xfrm>
            <a:off x="8129016" y="4654296"/>
            <a:ext cx="3575304"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7" name="Text 1"/>
          <p:cNvSpPr/>
          <p:nvPr>
            <p:ph idx="115" type="body" hasCustomPrompt="1"/>
          </p:nvPr>
        </p:nvSpPr>
        <p:spPr>
          <a:xfrm>
            <a:off x="8129016" y="5120640"/>
            <a:ext cx="3575304"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4 Authors">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 2025 S&amp;P Global.</a:t>
            </a:r>
            <a:endParaRPr lang="en-US" sz="700" dirty="0"/>
          </a:p>
        </p:txBody>
      </p:sp>
      <p:sp>
        <p:nvSpPr>
          <p:cNvPr id="4" name="Text 1"/>
          <p:cNvSpPr/>
          <p:nvPr>
            <p:ph idx="102" hasCustomPrompt="1"/>
          </p:nvPr>
        </p:nvSpPr>
        <p:spPr>
          <a:xfrm>
            <a:off x="11411712" y="6565392"/>
            <a:ext cx="310896" cy="219456"/>
          </a:xfrm>
          <a:prstGeom prst="rect">
            <a:avLst/>
          </a:prstGeom>
          <a:noFill/>
          <a:ln/>
        </p:spPr>
        <p:txBody>
          <a:bodyPr wrap="square" rtlCol="0"/>
          <a:lstStyle>
            <a:lvl1pPr algn="r" indent="0" marL="0">
              <a:buNone/>
              <a:defRPr lang="en-US" sz="700" dirty="0">
                <a:solidFill>
                  <a:srgbClr val="000000"/>
                </a:solidFill>
                <a:latin typeface="Arial" pitchFamily="34" charset="0"/>
                <a:ea typeface="Arial" pitchFamily="34" charset="-122"/>
                <a:cs typeface="Arial" pitchFamily="34" charset="-120"/>
              </a:defRPr>
            </a:lvl1pPr>
          </a:lstStyle>
          <a:p>
            <a:pPr algn="r" indent="0" marL="0">
              <a:buNone/>
            </a:pPr>
            <a:r>
              <a:rPr lang="en-US" sz="700" dirty="0">
                <a:solidFill>
                  <a:srgbClr val="000000"/>
                </a:solidFill>
                <a:latin typeface="Arial" pitchFamily="34" charset="0"/>
                <a:ea typeface="Arial" pitchFamily="34" charset="-122"/>
                <a:cs typeface="Arial" pitchFamily="34" charset="-120"/>
              </a:rPr>
              <a:t>&lt;#&gt;</a:t>
            </a:r>
            <a:endParaRPr lang="en-US" sz="700" dirty="0"/>
          </a:p>
        </p:txBody>
      </p:sp>
      <p:sp>
        <p:nvSpPr>
          <p:cNvPr id="5" name="Text 1"/>
          <p:cNvSpPr/>
          <p:nvPr>
            <p:ph idx="103" type="title" hasCustomPrompt="1"/>
          </p:nvPr>
        </p:nvSpPr>
        <p:spPr>
          <a:xfrm>
            <a:off x="475488" y="292608"/>
            <a:ext cx="11247120" cy="457200"/>
          </a:xfrm>
          <a:prstGeom prst="rect">
            <a:avLst/>
          </a:prstGeom>
          <a:noFill/>
          <a:ln/>
        </p:spPr>
        <p:txBody>
          <a:bodyPr wrap="square" rtlCol="0" anchor="t"/>
          <a:lstStyle>
            <a:lvl1pPr algn="l" indent="0" marL="0">
              <a:buNone/>
              <a:defRPr lang="en-US" sz="2400" dirty="0">
                <a:solidFill>
                  <a:srgbClr val="000000"/>
                </a:solidFill>
                <a:latin typeface="Arial" pitchFamily="34" charset="0"/>
                <a:ea typeface="Arial" pitchFamily="34" charset="-122"/>
                <a:cs typeface="Arial" pitchFamily="34" charset="-120"/>
              </a:defRPr>
            </a:lvl1pPr>
          </a:lstStyle>
          <a:p>
            <a:pPr algn="l" indent="0" marL="0">
              <a:buNone/>
            </a:pPr>
            <a:r>
              <a:rPr lang="en-US" sz="2400" dirty="0">
                <a:solidFill>
                  <a:srgbClr val="000000"/>
                </a:solidFill>
                <a:latin typeface="Arial" pitchFamily="34" charset="0"/>
                <a:ea typeface="Arial" pitchFamily="34" charset="-122"/>
                <a:cs typeface="Arial" pitchFamily="34" charset="-120"/>
              </a:rPr>
              <a:t>[Presenters/Moderators/Panelists] — select a title</a:t>
            </a:r>
            <a:endParaRPr lang="en-US" sz="2400" dirty="0"/>
          </a:p>
        </p:txBody>
      </p:sp>
      <p:sp>
        <p:nvSpPr>
          <p:cNvPr id="6" name="Text 1"/>
          <p:cNvSpPr/>
          <p:nvPr>
            <p:ph idx="104" hasCustomPrompt="1"/>
          </p:nvPr>
        </p:nvSpPr>
        <p:spPr>
          <a:xfrm>
            <a:off x="56692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7" name="Text 1"/>
          <p:cNvSpPr/>
          <p:nvPr>
            <p:ph idx="105" type="body" hasCustomPrompt="1"/>
          </p:nvPr>
        </p:nvSpPr>
        <p:spPr>
          <a:xfrm>
            <a:off x="475488" y="4261104"/>
            <a:ext cx="2615184"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8" name="Text 1"/>
          <p:cNvSpPr/>
          <p:nvPr>
            <p:ph idx="106" type="body" hasCustomPrompt="1"/>
          </p:nvPr>
        </p:nvSpPr>
        <p:spPr>
          <a:xfrm>
            <a:off x="475488" y="4654296"/>
            <a:ext cx="2615184"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9" name="Text 1"/>
          <p:cNvSpPr/>
          <p:nvPr>
            <p:ph idx="107" type="body" hasCustomPrompt="1"/>
          </p:nvPr>
        </p:nvSpPr>
        <p:spPr>
          <a:xfrm>
            <a:off x="475488" y="5120640"/>
            <a:ext cx="2615184"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0" name="Text 1"/>
          <p:cNvSpPr/>
          <p:nvPr>
            <p:ph idx="108" hasCustomPrompt="1"/>
          </p:nvPr>
        </p:nvSpPr>
        <p:spPr>
          <a:xfrm>
            <a:off x="344728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1" name="Text 1"/>
          <p:cNvSpPr/>
          <p:nvPr>
            <p:ph idx="109" type="body" hasCustomPrompt="1"/>
          </p:nvPr>
        </p:nvSpPr>
        <p:spPr>
          <a:xfrm>
            <a:off x="3355848" y="4261104"/>
            <a:ext cx="2615184"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2" name="Text 1"/>
          <p:cNvSpPr/>
          <p:nvPr>
            <p:ph idx="110" type="body" hasCustomPrompt="1"/>
          </p:nvPr>
        </p:nvSpPr>
        <p:spPr>
          <a:xfrm>
            <a:off x="3355848" y="4654296"/>
            <a:ext cx="2615184"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3" name="Text 1"/>
          <p:cNvSpPr/>
          <p:nvPr>
            <p:ph idx="111" type="body" hasCustomPrompt="1"/>
          </p:nvPr>
        </p:nvSpPr>
        <p:spPr>
          <a:xfrm>
            <a:off x="3355848" y="5120640"/>
            <a:ext cx="2615184"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4" name="Text 1"/>
          <p:cNvSpPr/>
          <p:nvPr>
            <p:ph idx="112" hasCustomPrompt="1"/>
          </p:nvPr>
        </p:nvSpPr>
        <p:spPr>
          <a:xfrm>
            <a:off x="6382512"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5" name="Text 1"/>
          <p:cNvSpPr/>
          <p:nvPr>
            <p:ph idx="113" type="body" hasCustomPrompt="1"/>
          </p:nvPr>
        </p:nvSpPr>
        <p:spPr>
          <a:xfrm>
            <a:off x="6236208" y="4261104"/>
            <a:ext cx="2615184"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16" name="Text 1"/>
          <p:cNvSpPr/>
          <p:nvPr>
            <p:ph idx="114" type="body" hasCustomPrompt="1"/>
          </p:nvPr>
        </p:nvSpPr>
        <p:spPr>
          <a:xfrm>
            <a:off x="6236208" y="4654296"/>
            <a:ext cx="2615184"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17" name="Text 1"/>
          <p:cNvSpPr/>
          <p:nvPr>
            <p:ph idx="115" type="body" hasCustomPrompt="1"/>
          </p:nvPr>
        </p:nvSpPr>
        <p:spPr>
          <a:xfrm>
            <a:off x="6236208" y="5120640"/>
            <a:ext cx="2615184"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
        <p:nvSpPr>
          <p:cNvPr id="18" name="Text 1"/>
          <p:cNvSpPr/>
          <p:nvPr>
            <p:ph idx="116" hasCustomPrompt="1"/>
          </p:nvPr>
        </p:nvSpPr>
        <p:spPr>
          <a:xfrm>
            <a:off x="9208008" y="1901952"/>
            <a:ext cx="2194560" cy="21945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[Click to add portrait photo or remove]</a:t>
            </a:r>
            <a:endParaRPr lang="en-US" dirty="0"/>
          </a:p>
        </p:txBody>
      </p:sp>
      <p:sp>
        <p:nvSpPr>
          <p:cNvPr id="19" name="Text 1"/>
          <p:cNvSpPr/>
          <p:nvPr>
            <p:ph idx="117" type="body" hasCustomPrompt="1"/>
          </p:nvPr>
        </p:nvSpPr>
        <p:spPr>
          <a:xfrm>
            <a:off x="9116568" y="4261104"/>
            <a:ext cx="2615184" cy="329184"/>
          </a:xfrm>
          <a:prstGeom prst="rect">
            <a:avLst/>
          </a:prstGeom>
          <a:noFill/>
          <a:ln/>
        </p:spPr>
        <p:txBody>
          <a:bodyPr wrap="square" rtlCol="0" anchor="ctr"/>
          <a:lstStyle>
            <a:lvl1pPr algn="l" indent="0" marL="0">
              <a:buNone/>
              <a:defRPr lang="en-US" sz="1800" dirty="0">
                <a:solidFill>
                  <a:srgbClr val="000000"/>
                </a:solidFill>
                <a:latin typeface="Arial" pitchFamily="34" charset="0"/>
                <a:ea typeface="Arial" pitchFamily="34" charset="-122"/>
                <a:cs typeface="Arial" pitchFamily="34" charset="-120"/>
              </a:defRPr>
            </a:lvl1pPr>
          </a:lstStyle>
          <a:p>
            <a:pPr algn="l" indent="0" marL="0">
              <a:buNone/>
            </a:pPr>
            <a:r>
              <a:rPr lang="en-US" sz="1800" dirty="0">
                <a:solidFill>
                  <a:srgbClr val="000000"/>
                </a:solidFill>
                <a:latin typeface="Arial" pitchFamily="34" charset="0"/>
                <a:ea typeface="Arial" pitchFamily="34" charset="-122"/>
                <a:cs typeface="Arial" pitchFamily="34" charset="-120"/>
              </a:rPr>
              <a:t>[Click to add name]</a:t>
            </a:r>
            <a:endParaRPr lang="en-US" sz="1800" dirty="0"/>
          </a:p>
        </p:txBody>
      </p:sp>
      <p:sp>
        <p:nvSpPr>
          <p:cNvPr id="20" name="Text 1"/>
          <p:cNvSpPr/>
          <p:nvPr>
            <p:ph idx="118" type="body" hasCustomPrompt="1"/>
          </p:nvPr>
        </p:nvSpPr>
        <p:spPr>
          <a:xfrm>
            <a:off x="9116568" y="4654296"/>
            <a:ext cx="2615184" cy="393192"/>
          </a:xfrm>
          <a:prstGeom prst="rect">
            <a:avLst/>
          </a:prstGeom>
          <a:noFill/>
          <a:ln/>
        </p:spPr>
        <p:txBody>
          <a:bodyPr wrap="square" rtlCol="0" anchor="t"/>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title and company]</a:t>
            </a:r>
            <a:endParaRPr lang="en-US" sz="1400" dirty="0"/>
          </a:p>
        </p:txBody>
      </p:sp>
      <p:sp>
        <p:nvSpPr>
          <p:cNvPr id="21" name="Text 1"/>
          <p:cNvSpPr/>
          <p:nvPr>
            <p:ph idx="119" type="body" hasCustomPrompt="1"/>
          </p:nvPr>
        </p:nvSpPr>
        <p:spPr>
          <a:xfrm>
            <a:off x="9116568" y="5120640"/>
            <a:ext cx="2615184" cy="329184"/>
          </a:xfrm>
          <a:prstGeom prst="rect">
            <a:avLst/>
          </a:prstGeom>
          <a:noFill/>
          <a:ln/>
        </p:spPr>
        <p:txBody>
          <a:bodyPr wrap="square" rtlCol="0" anchor="ctr"/>
          <a:lstStyle>
            <a:lvl1pPr algn="l" indent="0" marL="0">
              <a:buNone/>
              <a:defRPr lang="en-US" sz="1400" dirty="0">
                <a:solidFill>
                  <a:srgbClr val="000000"/>
                </a:solidFill>
                <a:latin typeface="Arial" pitchFamily="34" charset="0"/>
                <a:ea typeface="Arial" pitchFamily="34" charset="-122"/>
                <a:cs typeface="Arial" pitchFamily="34" charset="-120"/>
              </a:defRPr>
            </a:lvl1pPr>
          </a:lstStyle>
          <a:p>
            <a:pPr algn="l" indent="0" marL="0">
              <a:buNone/>
            </a:pPr>
            <a:r>
              <a:rPr lang="en-US" sz="1400" dirty="0">
                <a:solidFill>
                  <a:srgbClr val="000000"/>
                </a:solidFill>
                <a:latin typeface="Arial" pitchFamily="34" charset="0"/>
                <a:ea typeface="Arial" pitchFamily="34" charset="-122"/>
                <a:cs typeface="Arial" pitchFamily="34" charset="-120"/>
              </a:rPr>
              <a:t>[Click to add email]</a:t>
            </a:r>
            <a:endParaRPr lang="en-US" sz="1400"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ontact us">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1112" y="0"/>
            <a:ext cx="5577840" cy="6858000"/>
          </a:xfrm>
          <a:prstGeom prst="rect">
            <a:avLst/>
          </a:prstGeom>
        </p:spPr>
      </p:pic>
      <p:pic>
        <p:nvPicPr>
          <p:cNvPr id="3" name="Image 1" descr="https://snp-mediaportal.qbank.se/assets/deployedFiles/fd6ac17e8cb753e1865b09a3b5a17939.png">    </p:cNvPr>
          <p:cNvPicPr>
            <a:picLocks noChangeAspect="1"/>
          </p:cNvPicPr>
          <p:nvPr/>
        </p:nvPicPr>
        <p:blipFill>
          <a:blip r:embed="rId2"/>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p:txBody>
      </p:sp>
      <p:sp>
        <p:nvSpPr>
          <p:cNvPr id="5" name="Text 1"/>
          <p:cNvSpPr/>
          <p:nvPr>
            <p:ph idx="103"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disclaimer">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ph idx="101" hasCustomPrompt="1"/>
          </p:nvPr>
        </p:nvSpPr>
        <p:spPr>
          <a:xfrm>
            <a:off x="11411712" y="6565392"/>
            <a:ext cx="310896" cy="219456"/>
          </a:xfrm>
          <a:prstGeom prst="rect">
            <a:avLst/>
          </a:prstGeom>
          <a:noFill/>
          <a:ln/>
        </p:spPr>
        <p:txBody>
          <a:bodyPr wrap="square" rtlCol="0" anchor="ctr"/>
          <a:lstStyle>
            <a:lvl1pPr algn="r" indent="0" marL="0">
              <a:buNone/>
              <a:defRPr lang="en-US" sz="700" dirty="0">
                <a:solidFill>
                  <a:srgbClr val="FFFFFF"/>
                </a:solidFill>
                <a:latin typeface="Arial" pitchFamily="34" charset="0"/>
                <a:ea typeface="Arial" pitchFamily="34" charset="-122"/>
                <a:cs typeface="Arial" pitchFamily="34" charset="-120"/>
              </a:defRPr>
            </a:lvl1pP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4" name="Text 0"/>
          <p:cNvSpPr/>
          <p:nvPr/>
        </p:nvSpPr>
        <p:spPr>
          <a:xfrm>
            <a:off x="557784" y="448056"/>
            <a:ext cx="11082528" cy="5788152"/>
          </a:xfrm>
          <a:prstGeom prst="rect">
            <a:avLst/>
          </a:prstGeom>
          <a:noFill/>
          <a:ln/>
        </p:spPr>
        <p:txBody>
          <a:bodyPr wrap="square" rtlCol="0" anchor="ctr"/>
          <a:lstStyle/>
          <a:p>
            <a:pPr algn="l" indent="0" marL="0">
              <a:buNone/>
            </a:pPr>
            <a:r>
              <a:rPr lang="en-US" sz="1000" dirty="0">
                <a:solidFill>
                  <a:srgbClr val="000000"/>
                </a:solidFill>
                <a:latin typeface="Arial" pitchFamily="34" charset="0"/>
                <a:ea typeface="Arial" pitchFamily="34" charset="-122"/>
                <a:cs typeface="Arial" pitchFamily="34" charset="-120"/>
              </a:rPr>
              <a:t>Copyright © 2025 by S&amp;P Global Market Intelligence, a division of S&amp;P Global Inc. All rights reserved.</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These materials have been prepared solely for information purposes based upon information generally available to the public and from sources believed to be reliable. No content (including index data, ratings, credit-related analyses and data, research, model, software or other application or output therefrom) or any part thereof (Content) may be modified, reverse engineered, reproduced or distributed in any form by any means, or stored in a database or retrieval system, without the prior written permission of S&amp;P Global Market Intelligence or its affiliates (collectively, S&amp;P Global). The Content shall not be used for any unlawful or unauthorized purposes. S&amp;P Global and any third-party providers, (collectively S&amp;P Global Parties) do not guarantee the accuracy, completeness, timeliness or availability of the Content. S&amp;P Global Parties are not responsible for any errors or omissions, regardless of the cause, for the results obtained from the use of the Content. THE CONTENT IS PROVIDED ON "AS IS" BASIS. S&amp;P GLOBAL PARTIES DISCLAIM ANY AND ALL EXPRESS OR IMPLIED WARRANTIES, INCLUDING, BUT NOT LIMITED TO, ANY WARRANTIES OF MERCHANTABILITY OR FITNESS FOR A PARTICULAR PURPOSE OR USE, FREEDOM FROM BUGS, SOFTWARE ERRORS OR DEFECTS, THAT THE CONTENT'S FUNCTIONING WILL BE UNINTERRUPTED OR THAT THE CONTENT WILL OPERATE WITH ANY SOFTWARE OR HARDWARE CONFIGURATION. In no event shall S&amp;P Global Parties be liable to any party for any direct, indirect, incidental, exemplary, compensatory, punitive, special or consequential damages, costs, expenses, legal fees, or losses (including, without limitation, lost income or lost profits and opportunity costs or losses caused by negligence) in connection with any use of the Content even if advised of the possibility of such damages.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Market Intelligence's opinions, quotes and credit-related and other analyses are statements of opinion as of the date they are expressed and not statements of fact or recommendations to purchase, hold, or sell any securities or to make any investment decisions, and do not address the suitability of any security. S&amp;P Global Market Intelligence may provide index data. Direct investment in an index is not possible. Exposure to an asset class represented by an index is available through investable instruments based on that index. S&amp;P Global Market Intelligence assumes no obligation to update the Content following publication in any form or format. The Content should not be relied on and is not a substitute for the skill, judgment and experience of the user, its management, employees, advisors and/or clients when making investment and other business decisions. S&amp;P Global Market Intelligence does not endorse companies, technologies, products, services, or solutions.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keeps certain activities of its divisions separate from each other in order to preserve the independence and objectivity of their respective activities. As a result, certain divisions of S&amp;P Global may have information that is not available to other S&amp;P Global divisions. S&amp;P Global has established policies and procedures to maintain the confidentiality of certain non-public information received in connection with each analytical process.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may receive compensation for its ratings and certain analyses, normally from issuers or underwriters of securities or from obligors. S&amp;P Global reserves the right to disseminate its opinions and analyses. S&amp;P Global's public ratings and analyses are made available on its websites, www.standardandpoors.com (free of charge) and www.ratingsdirect.com (subscription), and may be distributed through other means, including via S&amp;P Global publications and third-party redistributors. Additional information about our ratings fees is available at www.standardandpoors.com/usratingsfees.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This content was created with the assistance of Kensho Spark Assist, an artificial intelligence (AI) tool. For complete Terms of Use, see https://www.spglobal.com/en/terms-of-use.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 id="2147483059" r:id="rId59"/>
    <p:sldLayoutId id="2147483060" r:id="rId60"/>
    <p:sldLayoutId id="2147483061" r:id="rId61"/>
    <p:sldLayoutId id="2147483062" r:id="rId62"/>
    <p:sldLayoutId id="2147483063" r:id="rId63"/>
    <p:sldLayoutId id="2147483064" r:id="rId64"/>
    <p:sldLayoutId id="2147483065" r:id="rId65"/>
    <p:sldLayoutId id="2147483066" r:id="rId66"/>
    <p:sldLayoutId id="2147483067" r:id="rId67"/>
    <p:sldLayoutId id="2147483068" r:id="rId68"/>
    <p:sldLayoutId id="2147483069" r:id="rId69"/>
    <p:sldLayoutId id="2147483070" r:id="rId70"/>
    <p:sldLayoutId id="2147483071" r:id="rId71"/>
    <p:sldLayoutId id="2147483072" r:id="rId72"/>
    <p:sldLayoutId id="2147483073" r:id="rId73"/>
    <p:sldLayoutId id="2147483074" r:id="rId74"/>
    <p:sldLayoutId id="2147483075" r:id="rId75"/>
    <p:sldLayoutId id="2147483076" r:id="rId76"/>
    <p:sldLayoutId id="2147483077" r:id="rId77"/>
    <p:sldLayoutId id="2147483078" r:id="rId78"/>
    <p:sldLayoutId id="2147483079" r:id="rId79"/>
    <p:sldLayoutId id="2147483080" r:id="rId80"/>
    <p:sldLayoutId id="2147483081" r:id="rId81"/>
    <p:sldLayoutId id="2147483082" r:id="rId82"/>
    <p:sldLayoutId id="2147483083" r:id="rId83"/>
    <p:sldLayoutId id="2147483084" r:id="rId84"/>
    <p:sldLayoutId id="2147483085" r:id="rId85"/>
    <p:sldLayoutId id="2147483086" r:id="rId86"/>
    <p:sldLayoutId id="2147483087" r:id="rId87"/>
    <p:sldLayoutId id="2147483088" r:id="rId88"/>
    <p:sldLayoutId id="2147483089" r:id="rId89"/>
    <p:sldLayoutId id="2147483090" r:id="rId90"/>
    <p:sldLayoutId id="2147483091" r:id="rId91"/>
    <p:sldLayoutId id="2147483092" r:id="rId92"/>
    <p:sldLayoutId id="2147483093" r:id="rId93"/>
    <p:sldLayoutId id="2147483094" r:id="rId94"/>
    <p:sldLayoutId id="2147483095" r:id="rId95"/>
    <p:sldLayoutId id="2147483096" r:id="rId96"/>
    <p:sldLayoutId id="2147483097" r:id="rId97"/>
    <p:sldLayoutId id="2147483098" r:id="rId98"/>
    <p:sldLayoutId id="2147483099" r:id="rId99"/>
    <p:sldLayoutId id="2147483100" r:id="rId100"/>
    <p:sldLayoutId id="2147483101" r:id="rId101"/>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1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mediaportal.spglobal.com/search/images" TargetMode="External"/><Relationship Id="rId2" Type="http://schemas.openxmlformats.org/officeDocument/2006/relationships/hyperlink" Target="https://brandcenter.spglobal.com/content/photography-principles" TargetMode="External"/><Relationship Id="rId3" Type="http://schemas.openxmlformats.org/officeDocument/2006/relationships/hyperlink" Target="https://forms.office.com/Pages/ResponsePage.aspx?id=6jY-jzmAQEuBp33AWZ6GRaLKtkOlT3tHpcP174yxCTxUQzA3TTJYQkxRNUJSVElSWURUT0lLNzlaSyQlQCN0PWcu" TargetMode="External"/><Relationship Id="rId4" Type="http://schemas.openxmlformats.org/officeDocument/2006/relationships/hyperlink" Target="https://www.gettyimages.com/landing/pa-preview/expanded/170478" TargetMode="External"/><Relationship Id="rId5" Type="http://schemas.openxmlformats.org/officeDocument/2006/relationships/hyperlink" Target="https://spark.spglobal.com/assist?spark_id=33792" TargetMode="External"/><Relationship Id="rId6" Type="http://schemas.openxmlformats.org/officeDocument/2006/relationships/hyperlink" Target="https://brandcenter.spglobal.com/content/iconography" TargetMode="External"/><Relationship Id="rId7" Type="http://schemas.openxmlformats.org/officeDocument/2006/relationships/hyperlink" Target="https://forms.office.com/Pages/ResponsePage.aspx?id=6jY-jzmAQEuBp33AWZ6GRaLKtkOlT3tHpcP174yxCTxUNzY4WFRaS1czTTkwOTBPUjI2SU1DMzk4WSQlQCN0PWcu" TargetMode="External"/><Relationship Id="rId8" Type="http://schemas.openxmlformats.org/officeDocument/2006/relationships/hyperlink" Target="https://forms.office.com/Pages/ResponsePage.aspx?id=6jY-jzmAQEuBp33AWZ6GRZl6-kBxW6hEiiDSu0_M_X1UM0FMWVVFMTRWMjgyM0k4VE9aWjZXOU4zSSQlQCN0PWcu" TargetMode="External"/><Relationship Id="rId9" Type="http://schemas.openxmlformats.org/officeDocument/2006/relationships/hyperlink" Target="https://spgl.sharepoint.com/sites/group_nam_corp_edp_m/SitePages/Energy-Editorial-Submissions.aspx" TargetMode="External"/><Relationship Id="rId10" Type="http://schemas.openxmlformats.org/officeDocument/2006/relationships/hyperlink" Target="https://spgl.sharepoint.com/sites/ResearchAnalysis/Lists/SC/NewForm.aspx" TargetMode="External"/><Relationship Id="rId11" Type="http://schemas.openxmlformats.org/officeDocument/2006/relationships/hyperlink" Target="mailto:jane.crispin@spglobal.com" TargetMode="External"/><Relationship Id="rId12" Type="http://schemas.openxmlformats.org/officeDocument/2006/relationships/hyperlink" Target="mailto:GIA_editorial@spglobal.com" TargetMode="External"/><Relationship Id="rId13" Type="http://schemas.openxmlformats.org/officeDocument/2006/relationships/hyperlink" Target="mailto:h-ihsm-DL-MaritimeEditing&amp;Design@spglobal.com" TargetMode="External"/><Relationship Id="rId14" Type="http://schemas.openxmlformats.org/officeDocument/2006/relationships/hyperlink" Target="mailto:finews.submissions@spglobal.com" TargetMode="External"/><Relationship Id="rId15" Type="http://schemas.openxmlformats.org/officeDocument/2006/relationships/hyperlink" Target="https://spgi.service-now.com/esc?id=sc_cat_item&amp;sys_id=c49f549bc3f0d214fffbdecf050131bb" TargetMode="External"/><Relationship Id="rId16" Type="http://schemas.openxmlformats.org/officeDocument/2006/relationships/hyperlink" Target="https://spgl.sharepoint.com/sites/group_nam_corp_edp_m/DLF/_Essential_tools/Add-ins" TargetMode="External"/><Relationship Id="rId17" Type="http://schemas.openxmlformats.org/officeDocument/2006/relationships/hyperlink" Target="mailto:publish.pira@spglobal.com" TargetMode="External"/><Relationship Id="rId18" Type="http://schemas.openxmlformats.org/officeDocument/2006/relationships/hyperlink" Target="mailto:EditorialTeam451@spglobal.com" TargetMode="External"/><Relationship Id="rId19" Type="http://schemas.openxmlformats.org/officeDocument/2006/relationships/hyperlink" Target="mailto:MIResearchEditorial@spglobal.com" TargetMode="External"/><Relationship Id="rId20" Type="http://schemas.openxmlformats.org/officeDocument/2006/relationships/hyperlink" Target="mailto:mark.pengelly@spglobal.com" TargetMode="External"/><Relationship Id="rId21" Type="http://schemas.openxmlformats.org/officeDocument/2006/relationships/slideLayout" Target="../slideLayouts/slideLayout8.xml"/><Relationship Id="rId2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Data Center Investment Moves Macro Needle</a:t>
            </a:r>
            <a:endParaRPr lang="en-US" dirty="0"/>
          </a:p>
        </p:txBody>
      </p:sp>
      <p:sp>
        <p:nvSpPr>
          <p:cNvPr id="3" name="Text 1"/>
          <p:cNvSpPr/>
          <p:nvPr/>
        </p:nvSpPr>
        <p:spPr>
          <a:xfrm>
            <a:off x="0" y="0"/>
            <a:ext cx="9143771" cy="0"/>
          </a:xfrm>
          <a:prstGeom prst="rect">
            <a:avLst/>
          </a:prstGeom>
          <a:noFill/>
          <a:ln/>
        </p:spPr>
        <p:txBody>
          <a:bodyPr wrap="square" rtlCol="0"/>
          <a:lstStyle/>
          <a:p>
            <a:pPr indent="0" marL="0">
              <a:buNone/>
            </a:pPr>
            <a:r>
              <a:rPr lang="en-US" dirty="0"/>
              <a:t>Infrastructure Growth Driving Economic Transformation</a:t>
            </a:r>
            <a:endParaRPr lang="en-US" dirty="0"/>
          </a:p>
        </p:txBody>
      </p:sp>
      <p:sp>
        <p:nvSpPr>
          <p:cNvPr id="4" name="Text 2"/>
          <p:cNvSpPr/>
          <p:nvPr/>
        </p:nvSpPr>
        <p:spPr>
          <a:xfrm>
            <a:off x="0" y="0"/>
            <a:ext cx="9143771" cy="0"/>
          </a:xfrm>
          <a:prstGeom prst="rect">
            <a:avLst/>
          </a:prstGeom>
          <a:noFill/>
          <a:ln/>
        </p:spPr>
        <p:txBody>
          <a:bodyPr wrap="square" rtlCol="0"/>
          <a:lstStyle/>
          <a:p>
            <a:pPr indent="0" marL="0">
              <a:buNone/>
            </a:pPr>
            <a:r>
              <a:rPr lang="en-US" dirty="0"/>
              <a:t>Mizan Bin Abdul Rahman / Market Intelligence / Senior Analyst</a:t>
            </a:r>
            <a:endParaRPr lang="en-US" dirty="0"/>
          </a:p>
        </p:txBody>
      </p:sp>
      <p:sp>
        <p:nvSpPr>
          <p:cNvPr id="5" name="Text 3"/>
          <p:cNvSpPr/>
          <p:nvPr/>
        </p:nvSpPr>
        <p:spPr>
          <a:xfrm>
            <a:off x="0" y="0"/>
            <a:ext cx="9143771" cy="0"/>
          </a:xfrm>
          <a:prstGeom prst="rect">
            <a:avLst/>
          </a:prstGeom>
          <a:noFill/>
          <a:ln/>
        </p:spPr>
        <p:txBody>
          <a:bodyPr wrap="square" rtlCol="0"/>
          <a:lstStyle/>
          <a:p>
            <a:pPr indent="0" marL="0">
              <a:buNone/>
            </a:pPr>
            <a:r>
              <a:rPr lang="en-US" dirty="0"/>
              <a:t>MARKET BRIEFING</a:t>
            </a:r>
            <a:endParaRPr lang="en-US" dirty="0"/>
          </a:p>
        </p:txBody>
      </p:sp>
      <p:sp>
        <p:nvSpPr>
          <p:cNvPr id="6" name="Text 4"/>
          <p:cNvSpPr/>
          <p:nvPr/>
        </p:nvSpPr>
        <p:spPr>
          <a:xfrm>
            <a:off x="0" y="0"/>
            <a:ext cx="9143771" cy="0"/>
          </a:xfrm>
          <a:prstGeom prst="rect">
            <a:avLst/>
          </a:prstGeom>
          <a:noFill/>
          <a:ln/>
        </p:spPr>
        <p:txBody>
          <a:bodyPr wrap="square" rtlCol="0"/>
          <a:lstStyle/>
          <a:p>
            <a:pPr indent="0" marL="0">
              <a:buNone/>
            </a:pPr>
            <a:endParaRPr lang="en-US" dirty="0"/>
          </a:p>
        </p:txBody>
      </p:sp>
      <p:sp>
        <p:nvSpPr>
          <p:cNvPr id="7" name="Text 5"/>
          <p:cNvSpPr/>
          <p:nvPr/>
        </p:nvSpPr>
        <p:spPr>
          <a:xfrm>
            <a:off x="0" y="0"/>
            <a:ext cx="9143771" cy="0"/>
          </a:xfrm>
          <a:prstGeom prst="rect">
            <a:avLst/>
          </a:prstGeom>
          <a:noFill/>
          <a:ln/>
        </p:spPr>
        <p:txBody>
          <a:bodyPr wrap="square" rtlCol="0"/>
          <a:lstStyle/>
          <a:p>
            <a:pPr indent="0" marL="0">
              <a:buNone/>
            </a:pPr>
            <a:r>
              <a:rPr lang="en-US" dirty="0"/>
              <a:t>December 3, 2025</a:t>
            </a:r>
            <a:endParaRPr lang="en-US" dirty="0"/>
          </a:p>
        </p:txBody>
      </p:sp>
      <p:sp>
        <p:nvSpPr>
          <p:cNvPr id="8" name="Text 6"/>
          <p:cNvSpPr/>
          <p:nvPr/>
        </p:nvSpPr>
        <p:spPr>
          <a:xfrm>
            <a:off x="0" y="0"/>
            <a:ext cx="9143771" cy="0"/>
          </a:xfrm>
          <a:prstGeom prst="rect">
            <a:avLst/>
          </a:prstGeom>
          <a:noFill/>
          <a:ln/>
        </p:spPr>
        <p:txBody>
          <a:bodyPr wrap="square" rtlCol="0"/>
          <a:lstStyle/>
          <a:p>
            <a:pPr indent="0" marL="0">
              <a:buNone/>
            </a:pPr>
            <a:r>
              <a:rPr lang="en-US" dirty="0"/>
              <a:t>A modern data center facility with server racks and digital infrastructure, representing the technological backbone of the digital economy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hasCustomPrompt="1"/>
          </p:nvPr>
        </p:nvSpPr>
        <p:spPr>
          <a:xfrm>
            <a:off x="11411712" y="6565392"/>
            <a:ext cx="310896" cy="219456"/>
          </a:xfrm>
          <a:prstGeom prst="rect">
            <a:avLst/>
          </a:prstGeom>
          <a:noFill/>
          <a:ln/>
        </p:spPr>
        <p:txBody>
          <a:bodyPr wrap="square" rtlCol="0"/>
          <a:lstStyle/>
          <a:p>
            <a:pPr algn="r" indent="0" marL="0">
              <a:buNone/>
            </a:pPr>
            <a:r>
              <a:rPr lang="en-US" sz="700" dirty="0">
                <a:solidFill>
                  <a:srgbClr val="000000"/>
                </a:solidFill>
                <a:latin typeface="Arial" pitchFamily="34" charset="0"/>
                <a:ea typeface="Arial" pitchFamily="34" charset="-122"/>
                <a:cs typeface="Arial" pitchFamily="34" charset="-120"/>
              </a:rPr>
              <a:t>2</a:t>
            </a:r>
            <a:endParaRPr lang="en-US" sz="700" dirty="0"/>
          </a:p>
        </p:txBody>
      </p:sp>
      <p:sp>
        <p:nvSpPr>
          <p:cNvPr id="3" name="Text 1"/>
          <p:cNvSpPr/>
          <p:nvPr>
            <p:ph idx="103" type="title" hasCustomPrompt="1"/>
          </p:nvPr>
        </p:nvSpPr>
        <p:spPr>
          <a:xfrm>
            <a:off x="475488" y="292608"/>
            <a:ext cx="11247120" cy="457200"/>
          </a:xfrm>
          <a:prstGeom prst="rect">
            <a:avLst/>
          </a:prstGeom>
          <a:noFill/>
          <a:ln/>
        </p:spPr>
        <p:txBody>
          <a:bodyPr wrap="square" rtlCol="0" anchor="t"/>
          <a:lstStyle/>
          <a:p>
            <a:pPr algn="l" indent="0" marL="0">
              <a:buNone/>
            </a:pPr>
            <a:r>
              <a:rPr lang="en-US" sz="2400" dirty="0">
                <a:solidFill>
                  <a:srgbClr val="000000"/>
                </a:solidFill>
                <a:latin typeface="Arial" pitchFamily="34" charset="0"/>
                <a:ea typeface="Arial" pitchFamily="34" charset="-122"/>
                <a:cs typeface="Arial" pitchFamily="34" charset="-120"/>
              </a:rPr>
              <a:t>The Data Center Investment Boom</a:t>
            </a:r>
            <a:endParaRPr lang="en-US" sz="2400" dirty="0"/>
          </a:p>
        </p:txBody>
      </p:sp>
      <p:sp>
        <p:nvSpPr>
          <p:cNvPr id="4" name="Text 1"/>
          <p:cNvSpPr/>
          <p:nvPr>
            <p:ph idx="104" type="body" hasCustomPrompt="1"/>
          </p:nvPr>
        </p:nvSpPr>
        <p:spPr>
          <a:xfrm>
            <a:off x="475488" y="896112"/>
            <a:ext cx="1124712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Unprecedented growth reshaping global infrastructure landscape</a:t>
            </a:r>
            <a:endParaRPr lang="en-US" sz="1800" dirty="0"/>
          </a:p>
        </p:txBody>
      </p:sp>
      <p:sp>
        <p:nvSpPr>
          <p:cNvPr id="5" name="Text 1"/>
          <p:cNvSpPr/>
          <p:nvPr>
            <p:ph idx="106" type="body" hasCustomPrompt="1"/>
          </p:nvPr>
        </p:nvSpPr>
        <p:spPr>
          <a:xfrm>
            <a:off x="6016752" y="0"/>
            <a:ext cx="5715000" cy="320040"/>
          </a:xfrm>
          <a:prstGeom prst="rect">
            <a:avLst/>
          </a:prstGeom>
          <a:noFill/>
          <a:ln/>
        </p:spPr>
        <p:txBody>
          <a:bodyPr wrap="square" rtlCol="0" anchor="ctr"/>
          <a:lstStyle/>
          <a:p>
            <a:pPr algn="r" indent="0" marL="0">
              <a:buNone/>
            </a:pPr>
            <a:r>
              <a:rPr lang="en-US" sz="900" dirty="0">
                <a:solidFill>
                  <a:srgbClr val="000000"/>
                </a:solidFill>
                <a:latin typeface="Arial" pitchFamily="34" charset="0"/>
                <a:ea typeface="Arial" pitchFamily="34" charset="-122"/>
                <a:cs typeface="Arial" pitchFamily="34" charset="-120"/>
              </a:rPr>
              <a:t>Data Center Investment / December 2025</a:t>
            </a:r>
            <a:endParaRPr lang="en-US" sz="900" dirty="0"/>
          </a:p>
        </p:txBody>
      </p:sp>
      <p:sp>
        <p:nvSpPr>
          <p:cNvPr id="6" name="Text 1"/>
          <p:cNvSpPr/>
          <p:nvPr>
            <p:ph idx="105" type="body" hasCustomPrompt="1"/>
          </p:nvPr>
        </p:nvSpPr>
        <p:spPr>
          <a:xfrm>
            <a:off x="475488" y="1207008"/>
            <a:ext cx="11247120" cy="443484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Data center investments have reached unprecedented levels, fundamentally altering the global economic landscape. The surge in artificial intelligence workloads, accelerated cloud adoption, and digital transformation initiatives across industries are driving massive capital expenditures in data center infrastructure. This investment wave extends far beyond the technology sector, creating significant multiplier effects throughout the economy. The scale of these investments is now substantial enough to influence macroeconomic indicators, from GDP growth to employment figures. Major technology companies and cloud service providers are committing billions of dollars to expand their data center footprints globally, while new market entrants and specialized infrastructure providers are also contributing to this growth trajectory. The economic implications of this investment boom are becoming increasingly visible in construction activity, energy consumption patterns, and regional economic development initiatives.</a:t>
            </a:r>
            <a:endParaRPr lang="en-US" sz="1200" dirty="0"/>
          </a:p>
        </p:txBody>
      </p:sp>
      <p:sp>
        <p:nvSpPr>
          <p:cNvPr id="7" name="Text 1"/>
          <p:cNvSpPr/>
          <p:nvPr>
            <p:ph idx="107" type="body" hasCustomPrompt="1"/>
          </p:nvPr>
        </p:nvSpPr>
        <p:spPr>
          <a:xfrm>
            <a:off x="475488" y="5733288"/>
            <a:ext cx="11247120" cy="530352"/>
          </a:xfrm>
          <a:prstGeom prst="rect">
            <a:avLst/>
          </a:prstGeom>
          <a:noFill/>
          <a:ln/>
        </p:spPr>
        <p:txBody>
          <a:bodyPr wrap="square" rtlCol="0" anchor="b"/>
          <a:lstStyle/>
          <a:p>
            <a:pPr algn="l" indent="0" marL="0">
              <a:buNone/>
            </a:pPr>
            <a:r>
              <a:rPr lang="en-US" sz="700" dirty="0">
                <a:solidFill>
                  <a:srgbClr val="000000"/>
                </a:solidFill>
                <a:latin typeface="Arial" pitchFamily="34" charset="0"/>
                <a:ea typeface="Arial" pitchFamily="34" charset="-122"/>
                <a:cs typeface="Arial" pitchFamily="34" charset="-120"/>
              </a:rPr>
              <a:t>Source: S&amp;P Global Market Intelligence | Web sources: https://www.spglobal.com/en/research-insights/special-reports/look-forward/data-center-frontiers/data-center-investment-moves-macro-needle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3</a:t>
            </a:r>
            <a:endParaRPr lang="en-US" dirty="0"/>
          </a:p>
        </p:txBody>
      </p:sp>
      <p:sp>
        <p:nvSpPr>
          <p:cNvPr id="3" name="Text 1"/>
          <p:cNvSpPr/>
          <p:nvPr/>
        </p:nvSpPr>
        <p:spPr>
          <a:xfrm>
            <a:off x="0" y="0"/>
            <a:ext cx="9143771" cy="0"/>
          </a:xfrm>
          <a:prstGeom prst="rect">
            <a:avLst/>
          </a:prstGeom>
          <a:noFill/>
          <a:ln/>
        </p:spPr>
        <p:txBody>
          <a:bodyPr wrap="square" rtlCol="0"/>
          <a:lstStyle/>
          <a:p>
            <a:pPr indent="0" marL="0">
              <a:buNone/>
            </a:pPr>
            <a:r>
              <a:rPr lang="en-US" dirty="0"/>
              <a:t>Economic Impact Across Multiple Sectors</a:t>
            </a:r>
            <a:endParaRPr lang="en-US" dirty="0"/>
          </a:p>
        </p:txBody>
      </p:sp>
      <p:sp>
        <p:nvSpPr>
          <p:cNvPr id="4" name="Text 2"/>
          <p:cNvSpPr/>
          <p:nvPr/>
        </p:nvSpPr>
        <p:spPr>
          <a:xfrm>
            <a:off x="0" y="0"/>
            <a:ext cx="9143771" cy="0"/>
          </a:xfrm>
          <a:prstGeom prst="rect">
            <a:avLst/>
          </a:prstGeom>
          <a:noFill/>
          <a:ln/>
        </p:spPr>
        <p:txBody>
          <a:bodyPr wrap="square" rtlCol="0"/>
          <a:lstStyle/>
          <a:p>
            <a:pPr indent="0" marL="0">
              <a:buNone/>
            </a:pPr>
            <a:r>
              <a:rPr lang="en-US" dirty="0"/>
              <a:t>Data center investments create significant multiplier effects</a:t>
            </a:r>
            <a:endParaRPr lang="en-US"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 cy="914400"/>
          </a:xfrm>
          <a:prstGeom prst="rect">
            <a:avLst/>
          </a:prstGeom>
        </p:spPr>
      </p:pic>
      <p:sp>
        <p:nvSpPr>
          <p:cNvPr id="6" name="Text 3"/>
          <p:cNvSpPr/>
          <p:nvPr/>
        </p:nvSpPr>
        <p:spPr>
          <a:xfrm>
            <a:off x="0" y="0"/>
            <a:ext cx="9143771" cy="0"/>
          </a:xfrm>
          <a:prstGeom prst="rect">
            <a:avLst/>
          </a:prstGeom>
          <a:noFill/>
          <a:ln/>
        </p:spPr>
        <p:txBody>
          <a:bodyPr wrap="square" rtlCol="0"/>
          <a:lstStyle/>
          <a:p>
            <a:pPr indent="0" marL="0">
              <a:buNone/>
            </a:pPr>
            <a:r>
              <a:rPr lang="en-US" dirty="0"/>
              <a:t>Employment Growth</a:t>
            </a:r>
            <a:endParaRPr lang="en-US" dirty="0"/>
          </a:p>
        </p:txBody>
      </p:sp>
      <p:sp>
        <p:nvSpPr>
          <p:cNvPr id="7" name="Text 4"/>
          <p:cNvSpPr/>
          <p:nvPr/>
        </p:nvSpPr>
        <p:spPr>
          <a:xfrm>
            <a:off x="0" y="0"/>
            <a:ext cx="9143771" cy="0"/>
          </a:xfrm>
          <a:prstGeom prst="rect">
            <a:avLst/>
          </a:prstGeom>
          <a:noFill/>
          <a:ln/>
        </p:spPr>
        <p:txBody>
          <a:bodyPr wrap="square" rtlCol="0"/>
          <a:lstStyle/>
          <a:p>
            <a:pPr indent="0" marL="0">
              <a:buNone/>
            </a:pPr>
            <a:r>
              <a:rPr lang="en-US" dirty="0"/>
              <a:t>Data center construction and operations generate substantial employment opportunities across multiple skill levels, from construction workers to specialized technicians and engineers, creating both direct and indirect job opportunities in local communities.</a:t>
            </a:r>
            <a:endParaRPr lang="en-US"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 cy="914400"/>
          </a:xfrm>
          <a:prstGeom prst="rect">
            <a:avLst/>
          </a:prstGeom>
        </p:spPr>
      </p:pic>
      <p:sp>
        <p:nvSpPr>
          <p:cNvPr id="9" name="Text 5"/>
          <p:cNvSpPr/>
          <p:nvPr/>
        </p:nvSpPr>
        <p:spPr>
          <a:xfrm>
            <a:off x="0" y="0"/>
            <a:ext cx="9143771" cy="0"/>
          </a:xfrm>
          <a:prstGeom prst="rect">
            <a:avLst/>
          </a:prstGeom>
          <a:noFill/>
          <a:ln/>
        </p:spPr>
        <p:txBody>
          <a:bodyPr wrap="square" rtlCol="0"/>
          <a:lstStyle/>
          <a:p>
            <a:pPr indent="0" marL="0">
              <a:buNone/>
            </a:pPr>
            <a:r>
              <a:rPr lang="en-US" dirty="0"/>
              <a:t>Infrastructure Investment</a:t>
            </a:r>
            <a:endParaRPr lang="en-US" dirty="0"/>
          </a:p>
        </p:txBody>
      </p:sp>
      <p:sp>
        <p:nvSpPr>
          <p:cNvPr id="10" name="Text 6"/>
          <p:cNvSpPr/>
          <p:nvPr/>
        </p:nvSpPr>
        <p:spPr>
          <a:xfrm>
            <a:off x="0" y="0"/>
            <a:ext cx="9143771" cy="0"/>
          </a:xfrm>
          <a:prstGeom prst="rect">
            <a:avLst/>
          </a:prstGeom>
          <a:noFill/>
          <a:ln/>
        </p:spPr>
        <p:txBody>
          <a:bodyPr wrap="square" rtlCol="0"/>
          <a:lstStyle/>
          <a:p>
            <a:pPr indent="0" marL="0">
              <a:buNone/>
            </a:pPr>
            <a:r>
              <a:rPr lang="en-US" dirty="0"/>
              <a:t>Massive capital expenditures in data center facilities drive complementary infrastructure development including power grid upgrades, telecommunications networks, and transportation improvements, benefiting entire regions beyond the immediate facility footprint.</a:t>
            </a:r>
            <a:endParaRPr lang="en-US"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914400" cy="914400"/>
          </a:xfrm>
          <a:prstGeom prst="rect">
            <a:avLst/>
          </a:prstGeom>
        </p:spPr>
      </p:pic>
      <p:sp>
        <p:nvSpPr>
          <p:cNvPr id="12" name="Text 7"/>
          <p:cNvSpPr/>
          <p:nvPr/>
        </p:nvSpPr>
        <p:spPr>
          <a:xfrm>
            <a:off x="0" y="0"/>
            <a:ext cx="9143771" cy="0"/>
          </a:xfrm>
          <a:prstGeom prst="rect">
            <a:avLst/>
          </a:prstGeom>
          <a:noFill/>
          <a:ln/>
        </p:spPr>
        <p:txBody>
          <a:bodyPr wrap="square" rtlCol="0"/>
          <a:lstStyle/>
          <a:p>
            <a:pPr indent="0" marL="0">
              <a:buNone/>
            </a:pPr>
            <a:r>
              <a:rPr lang="en-US" dirty="0"/>
              <a:t>Economic Output</a:t>
            </a:r>
            <a:endParaRPr lang="en-US" dirty="0"/>
          </a:p>
        </p:txBody>
      </p:sp>
      <p:sp>
        <p:nvSpPr>
          <p:cNvPr id="13" name="Text 8"/>
          <p:cNvSpPr/>
          <p:nvPr/>
        </p:nvSpPr>
        <p:spPr>
          <a:xfrm>
            <a:off x="0" y="0"/>
            <a:ext cx="9143771" cy="0"/>
          </a:xfrm>
          <a:prstGeom prst="rect">
            <a:avLst/>
          </a:prstGeom>
          <a:noFill/>
          <a:ln/>
        </p:spPr>
        <p:txBody>
          <a:bodyPr wrap="square" rtlCol="0"/>
          <a:lstStyle/>
          <a:p>
            <a:pPr indent="0" marL="0">
              <a:buNone/>
            </a:pPr>
            <a:r>
              <a:rPr lang="en-US" dirty="0"/>
              <a:t>Data center investments contribute measurably to GDP growth through construction activity, ongoing operational expenditures, and enabling digital economic activities that drive productivity gains across industries and support new business models.</a:t>
            </a:r>
            <a:endParaRPr lang="en-US" dirty="0"/>
          </a:p>
        </p:txBody>
      </p:sp>
      <p:sp>
        <p:nvSpPr>
          <p:cNvPr id="14" name="Text 9"/>
          <p:cNvSpPr/>
          <p:nvPr/>
        </p:nvSpPr>
        <p:spPr>
          <a:xfrm>
            <a:off x="0" y="0"/>
            <a:ext cx="9143771" cy="0"/>
          </a:xfrm>
          <a:prstGeom prst="rect">
            <a:avLst/>
          </a:prstGeom>
          <a:noFill/>
          <a:ln/>
        </p:spPr>
        <p:txBody>
          <a:bodyPr wrap="square" rtlCol="0"/>
          <a:lstStyle/>
          <a:p>
            <a:pPr indent="0" marL="0">
              <a:buNone/>
            </a:pPr>
            <a:r>
              <a:rPr lang="en-US" dirty="0"/>
              <a:t>Data Center Investment / December 2025</a:t>
            </a:r>
            <a:endParaRPr lang="en-US" dirty="0"/>
          </a:p>
        </p:txBody>
      </p:sp>
      <p:sp>
        <p:nvSpPr>
          <p:cNvPr id="15" name="Text 10"/>
          <p:cNvSpPr/>
          <p:nvPr/>
        </p:nvSpPr>
        <p:spPr>
          <a:xfrm>
            <a:off x="0" y="0"/>
            <a:ext cx="9143771" cy="0"/>
          </a:xfrm>
          <a:prstGeom prst="rect">
            <a:avLst/>
          </a:prstGeom>
          <a:noFill/>
          <a:ln/>
        </p:spPr>
        <p:txBody>
          <a:bodyPr wrap="square" rtlCol="0"/>
          <a:lstStyle/>
          <a:p>
            <a:pPr indent="0" marL="0">
              <a:buNone/>
            </a:pPr>
            <a:r>
              <a:rPr lang="en-US" dirty="0"/>
              <a:t>Source: S&amp;P Global Market Intelligence | Web sources: https://www.spglobal.com/en/research-insights/special-reports/look-forward/data-center-frontiers/data-center-investment-moves-macro-needle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4</a:t>
            </a:r>
            <a:endParaRPr lang="en-US" dirty="0"/>
          </a:p>
        </p:txBody>
      </p:sp>
      <p:sp>
        <p:nvSpPr>
          <p:cNvPr id="3" name="Text 1"/>
          <p:cNvSpPr/>
          <p:nvPr/>
        </p:nvSpPr>
        <p:spPr>
          <a:xfrm>
            <a:off x="0" y="0"/>
            <a:ext cx="9143771" cy="0"/>
          </a:xfrm>
          <a:prstGeom prst="rect">
            <a:avLst/>
          </a:prstGeom>
          <a:noFill/>
          <a:ln/>
        </p:spPr>
        <p:txBody>
          <a:bodyPr wrap="square" rtlCol="0"/>
          <a:lstStyle/>
          <a:p>
            <a:pPr indent="0" marL="0">
              <a:buNone/>
            </a:pPr>
            <a:r>
              <a:rPr lang="en-US" dirty="0"/>
              <a:t>Market Drivers and Investment Momentum Behind Data Center Growth</a:t>
            </a:r>
            <a:endParaRPr lang="en-US" dirty="0"/>
          </a:p>
        </p:txBody>
      </p:sp>
      <p:sp>
        <p:nvSpPr>
          <p:cNvPr id="4" name="Text 2"/>
          <p:cNvSpPr/>
          <p:nvPr/>
        </p:nvSpPr>
        <p:spPr>
          <a:xfrm>
            <a:off x="0" y="0"/>
            <a:ext cx="9143771" cy="0"/>
          </a:xfrm>
          <a:prstGeom prst="rect">
            <a:avLst/>
          </a:prstGeom>
          <a:noFill/>
          <a:ln/>
        </p:spPr>
        <p:txBody>
          <a:bodyPr wrap="square" rtlCol="0"/>
          <a:lstStyle/>
          <a:p>
            <a:pPr indent="0" marL="0">
              <a:buNone/>
            </a:pPr>
            <a:r>
              <a:rPr lang="en-US" dirty="0"/>
              <a:t>AI workloads and cloud migration accelerating infrastructure demand</a:t>
            </a:r>
            <a:endParaRPr lang="en-US" dirty="0"/>
          </a:p>
        </p:txBody>
      </p:sp>
      <p:sp>
        <p:nvSpPr>
          <p:cNvPr id="5" name="Text 3"/>
          <p:cNvSpPr/>
          <p:nvPr/>
        </p:nvSpPr>
        <p:spPr>
          <a:xfrm>
            <a:off x="0" y="0"/>
            <a:ext cx="9143771" cy="0"/>
          </a:xfrm>
          <a:prstGeom prst="rect">
            <a:avLst/>
          </a:prstGeom>
          <a:noFill/>
          <a:ln/>
        </p:spPr>
        <p:txBody>
          <a:bodyPr wrap="square" rtlCol="0"/>
          <a:lstStyle/>
          <a:p>
            <a:pPr indent="0" marL="0">
              <a:buNone/>
            </a:pPr>
            <a:r>
              <a:rPr lang="en-US" dirty="0"/>
              <a:t>Data Center Investment / December 2025</a:t>
            </a:r>
            <a:endParaRPr lang="en-US" dirty="0"/>
          </a:p>
        </p:txBody>
      </p:sp>
      <p:sp>
        <p:nvSpPr>
          <p:cNvPr id="6" name="Text 4"/>
          <p:cNvSpPr/>
          <p:nvPr/>
        </p:nvSpPr>
        <p:spPr>
          <a:xfrm>
            <a:off x="0" y="0"/>
            <a:ext cx="9143771" cy="0"/>
          </a:xfrm>
          <a:prstGeom prst="rect">
            <a:avLst/>
          </a:prstGeom>
          <a:noFill/>
          <a:ln/>
        </p:spPr>
        <p:txBody>
          <a:bodyPr wrap="square" rtlCol="0"/>
          <a:lstStyle/>
          <a:p>
            <a:pPr indent="0" marL="0">
              <a:buNone/>
            </a:pPr>
            <a:r>
              <a:rPr lang="en-US" dirty="0"/>
              <a:t>The explosive growth in artificial intelligence applications represents the primary catalyst driving unprecedented data center investment levels. AI workloads require substantially more computational power and specialized infrastructure compared to traditional applications, forcing organizations to rapidly expand their data center capabilities. Simultaneously, the ongoing migration to cloud services continues to accelerate, with enterprises increasingly adopting hybrid and multi-cloud strategies that demand robust data center infrastructure. Digital transformation initiatives across industries are creating sustained demand for data processing and storage capabilities, while emerging technologies like edge computing are driving geographic diversification of data center investments. The convergence of these technological trends is creating a perfect storm of infrastructure demand that extends well beyond traditional technology hubs, spreading investment activity to new geographic markets and creating economic opportunities in previously underserved regions. This distributed investment pattern is amplifying the macroeconomic impact as data center development becomes a catalyst for broader regional economic development.</a:t>
            </a:r>
            <a:endParaRPr lang="en-US" dirty="0"/>
          </a:p>
        </p:txBody>
      </p:sp>
      <p:sp>
        <p:nvSpPr>
          <p:cNvPr id="7" name="Text 5"/>
          <p:cNvSpPr/>
          <p:nvPr/>
        </p:nvSpPr>
        <p:spPr>
          <a:xfrm>
            <a:off x="0" y="0"/>
            <a:ext cx="9143771" cy="0"/>
          </a:xfrm>
          <a:prstGeom prst="rect">
            <a:avLst/>
          </a:prstGeom>
          <a:noFill/>
          <a:ln/>
        </p:spPr>
        <p:txBody>
          <a:bodyPr wrap="square" rtlCol="0"/>
          <a:lstStyle/>
          <a:p>
            <a:pPr indent="0" marL="0">
              <a:buNone/>
            </a:pPr>
            <a:r>
              <a:rPr lang="en-US" dirty="0"/>
              <a:t>Source: S&amp;P Global Market Intelligence | Web sources: https://www.spglobal.com/en/research-insights/special-reports/look-forward/data-center-frontiers/data-center-investment-moves-macro-needle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hasCustomPrompt="1"/>
          </p:nvPr>
        </p:nvSpPr>
        <p:spPr>
          <a:xfrm>
            <a:off x="11411712" y="6565392"/>
            <a:ext cx="310896" cy="219456"/>
          </a:xfrm>
          <a:prstGeom prst="rect">
            <a:avLst/>
          </a:prstGeom>
          <a:noFill/>
          <a:ln/>
        </p:spPr>
        <p:txBody>
          <a:bodyPr wrap="square" rtlCol="0" anchor="ctr"/>
          <a:lstStyle/>
          <a:p>
            <a:pPr algn="r" indent="0" marL="0">
              <a:buNone/>
            </a:pPr>
            <a:r>
              <a:rPr lang="en-US" sz="700" dirty="0">
                <a:solidFill>
                  <a:srgbClr val="000000"/>
                </a:solidFill>
                <a:latin typeface="Arial" pitchFamily="34" charset="0"/>
                <a:ea typeface="Arial" pitchFamily="34" charset="-122"/>
                <a:cs typeface="Arial" pitchFamily="34" charset="-120"/>
              </a:rPr>
              <a:t>5</a:t>
            </a:r>
            <a:endParaRPr lang="en-US" sz="700" dirty="0"/>
          </a:p>
        </p:txBody>
      </p:sp>
      <p:sp>
        <p:nvSpPr>
          <p:cNvPr id="3" name="Text 1"/>
          <p:cNvSpPr/>
          <p:nvPr>
            <p:ph idx="103" type="title" hasCustomPrompt="1"/>
          </p:nvPr>
        </p:nvSpPr>
        <p:spPr>
          <a:xfrm>
            <a:off x="475488" y="292608"/>
            <a:ext cx="11247120" cy="457200"/>
          </a:xfrm>
          <a:prstGeom prst="rect">
            <a:avLst/>
          </a:prstGeom>
          <a:noFill/>
          <a:ln/>
        </p:spPr>
        <p:txBody>
          <a:bodyPr wrap="square" rtlCol="0" anchor="t"/>
          <a:lstStyle/>
          <a:p>
            <a:pPr algn="l" indent="0" marL="0">
              <a:buNone/>
            </a:pPr>
            <a:r>
              <a:rPr lang="en-US" sz="2400" dirty="0">
                <a:solidFill>
                  <a:srgbClr val="000000"/>
                </a:solidFill>
                <a:latin typeface="Arial" pitchFamily="34" charset="0"/>
                <a:ea typeface="Arial" pitchFamily="34" charset="-122"/>
                <a:cs typeface="Arial" pitchFamily="34" charset="-120"/>
              </a:rPr>
              <a:t>Market Outlook and Strategic Implications</a:t>
            </a:r>
            <a:endParaRPr lang="en-US" sz="2400" dirty="0"/>
          </a:p>
        </p:txBody>
      </p:sp>
      <p:sp>
        <p:nvSpPr>
          <p:cNvPr id="4" name="Text 1"/>
          <p:cNvSpPr/>
          <p:nvPr>
            <p:ph idx="104" type="body" hasCustomPrompt="1"/>
          </p:nvPr>
        </p:nvSpPr>
        <p:spPr>
          <a:xfrm>
            <a:off x="475488" y="896112"/>
            <a:ext cx="1124712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Sustained growth trajectory with emerging challenges</a:t>
            </a:r>
            <a:endParaRPr lang="en-US" sz="1800" dirty="0"/>
          </a:p>
        </p:txBody>
      </p:sp>
      <p:sp>
        <p:nvSpPr>
          <p:cNvPr id="5" name="Text 1"/>
          <p:cNvSpPr/>
          <p:nvPr>
            <p:ph idx="109" type="body" hasCustomPrompt="1"/>
          </p:nvPr>
        </p:nvSpPr>
        <p:spPr>
          <a:xfrm>
            <a:off x="6016752" y="0"/>
            <a:ext cx="5715000" cy="320040"/>
          </a:xfrm>
          <a:prstGeom prst="rect">
            <a:avLst/>
          </a:prstGeom>
          <a:noFill/>
          <a:ln/>
        </p:spPr>
        <p:txBody>
          <a:bodyPr wrap="square" rtlCol="0" anchor="ctr"/>
          <a:lstStyle/>
          <a:p>
            <a:pPr algn="r" indent="0" marL="0">
              <a:buNone/>
            </a:pPr>
            <a:r>
              <a:rPr lang="en-US" sz="900" dirty="0">
                <a:solidFill>
                  <a:srgbClr val="000000"/>
                </a:solidFill>
                <a:latin typeface="Arial" pitchFamily="34" charset="0"/>
                <a:ea typeface="Arial" pitchFamily="34" charset="-122"/>
                <a:cs typeface="Arial" pitchFamily="34" charset="-120"/>
              </a:rPr>
              <a:t>Data Center Investment / December 2025</a:t>
            </a:r>
            <a:endParaRPr lang="en-US" sz="900" dirty="0"/>
          </a:p>
        </p:txBody>
      </p:sp>
      <p:sp>
        <p:nvSpPr>
          <p:cNvPr id="6" name="Text 1"/>
          <p:cNvSpPr/>
          <p:nvPr>
            <p:ph idx="105" type="body" hasCustomPrompt="1"/>
          </p:nvPr>
        </p:nvSpPr>
        <p:spPr>
          <a:xfrm>
            <a:off x="475488" y="1271016"/>
            <a:ext cx="521208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Growth Momentum</a:t>
            </a:r>
            <a:endParaRPr lang="en-US" sz="1800" dirty="0"/>
          </a:p>
        </p:txBody>
      </p:sp>
      <p:sp>
        <p:nvSpPr>
          <p:cNvPr id="7" name="Text 1"/>
          <p:cNvSpPr/>
          <p:nvPr>
            <p:ph idx="106" type="body" hasCustomPrompt="1"/>
          </p:nvPr>
        </p:nvSpPr>
        <p:spPr>
          <a:xfrm>
            <a:off x="475488" y="1609344"/>
            <a:ext cx="5212080" cy="402336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The data center investment boom is expected to maintain its trajectory as AI adoption accelerates across industries and cloud migration continues. Emerging technologies like edge computing and 5G networks will drive geographic expansion of data center infrastructure, creating new investment opportunities in previously underserved markets. The fundamental shift toward digital-first business models ensures sustained demand for data processing and storage capabilities, supporting continued capital expenditure growth in the sector.</a:t>
            </a:r>
            <a:endParaRPr lang="en-US" sz="1200" dirty="0"/>
          </a:p>
        </p:txBody>
      </p:sp>
      <p:sp>
        <p:nvSpPr>
          <p:cNvPr id="8" name="Text 1"/>
          <p:cNvSpPr/>
          <p:nvPr>
            <p:ph idx="107" type="body" hasCustomPrompt="1"/>
          </p:nvPr>
        </p:nvSpPr>
        <p:spPr>
          <a:xfrm>
            <a:off x="6510528" y="1271016"/>
            <a:ext cx="5212080" cy="283464"/>
          </a:xfrm>
          <a:prstGeom prst="rect">
            <a:avLst/>
          </a:prstGeom>
          <a:noFill/>
          <a:ln/>
        </p:spPr>
        <p:txBody>
          <a:bodyPr wrap="square" rtlCol="0" anchor="ctr"/>
          <a:lstStyle/>
          <a:p>
            <a:pPr algn="l" indent="0" marL="0">
              <a:buNone/>
            </a:pPr>
            <a:r>
              <a:rPr lang="en-US" sz="1800" dirty="0">
                <a:solidFill>
                  <a:srgbClr val="000000"/>
                </a:solidFill>
                <a:latin typeface="Arial" pitchFamily="34" charset="0"/>
                <a:ea typeface="Arial" pitchFamily="34" charset="-122"/>
                <a:cs typeface="Arial" pitchFamily="34" charset="-120"/>
              </a:rPr>
              <a:t>Key Challenges</a:t>
            </a:r>
            <a:endParaRPr lang="en-US" sz="1800" dirty="0"/>
          </a:p>
        </p:txBody>
      </p:sp>
      <p:sp>
        <p:nvSpPr>
          <p:cNvPr id="9" name="Text 1"/>
          <p:cNvSpPr/>
          <p:nvPr>
            <p:ph idx="108" type="body" hasCustomPrompt="1"/>
          </p:nvPr>
        </p:nvSpPr>
        <p:spPr>
          <a:xfrm>
            <a:off x="6510528" y="1609344"/>
            <a:ext cx="5212080" cy="4023360"/>
          </a:xfrm>
          <a:prstGeom prst="rect">
            <a:avLst/>
          </a:prstGeom>
          <a:noFill/>
          <a:ln/>
        </p:spPr>
        <p:txBody>
          <a:bodyPr wrap="square" rtlCol="0" anchor="t"/>
          <a:lstStyle/>
          <a:p>
            <a:pPr algn="l" indent="0" marL="0">
              <a:spcAft>
                <a:spcPts val="600"/>
              </a:spcAft>
              <a:buNone/>
            </a:pPr>
            <a:r>
              <a:rPr lang="en-US" sz="1200" dirty="0">
                <a:solidFill>
                  <a:srgbClr val="000000"/>
                </a:solidFill>
                <a:latin typeface="Arial" pitchFamily="34" charset="0"/>
                <a:ea typeface="Arial" pitchFamily="34" charset="-122"/>
                <a:cs typeface="Arial" pitchFamily="34" charset="-120"/>
              </a:rPr>
              <a:t>Power grid constraints and energy availability are emerging as primary limiting factors for data center expansion, particularly in high-demand markets. Regulatory frameworks around data sovereignty and environmental sustainability are creating new compliance requirements that influence investment decisions. Supply chain constraints for specialized equipment and skilled workforce shortages in key technical roles may moderate the pace of expansion, while rising construction costs could impact project economics and regional investment patterns.</a:t>
            </a:r>
            <a:endParaRPr lang="en-US" sz="1200" dirty="0"/>
          </a:p>
        </p:txBody>
      </p:sp>
      <p:sp>
        <p:nvSpPr>
          <p:cNvPr id="10" name="Text 1"/>
          <p:cNvSpPr/>
          <p:nvPr>
            <p:ph idx="110" type="body" hasCustomPrompt="1"/>
          </p:nvPr>
        </p:nvSpPr>
        <p:spPr>
          <a:xfrm>
            <a:off x="475488" y="5733288"/>
            <a:ext cx="11247120" cy="530352"/>
          </a:xfrm>
          <a:prstGeom prst="rect">
            <a:avLst/>
          </a:prstGeom>
          <a:noFill/>
          <a:ln/>
        </p:spPr>
        <p:txBody>
          <a:bodyPr wrap="square" rtlCol="0" anchor="b"/>
          <a:lstStyle/>
          <a:p>
            <a:pPr algn="l" indent="0" marL="0">
              <a:buNone/>
            </a:pPr>
            <a:r>
              <a:rPr lang="en-US" sz="700" dirty="0">
                <a:solidFill>
                  <a:srgbClr val="000000"/>
                </a:solidFill>
                <a:latin typeface="Arial" pitchFamily="34" charset="0"/>
                <a:ea typeface="Arial" pitchFamily="34" charset="-122"/>
                <a:cs typeface="Arial" pitchFamily="34" charset="-120"/>
              </a:rPr>
              <a:t>Source: S&amp;P Global Market Intelligence | Web sources: https://www.spglobal.com/en/research-insights/special-reports/look-forward/data-center-frontiers/data-center-investment-moves-macro-needle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hasCustomPrompt="1"/>
          </p:nvPr>
        </p:nvSpPr>
        <p:spPr>
          <a:xfrm>
            <a:off x="11411712" y="6565392"/>
            <a:ext cx="310896"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6</a:t>
            </a:r>
            <a:endParaRPr lang="en-US" sz="700" dirty="0"/>
          </a:p>
        </p:txBody>
      </p:sp>
      <p:sp>
        <p:nvSpPr>
          <p:cNvPr id="3" name="Text 1"/>
          <p:cNvSpPr/>
          <p:nvPr/>
        </p:nvSpPr>
        <p:spPr>
          <a:xfrm>
            <a:off x="566928" y="347472"/>
            <a:ext cx="5029200" cy="457200"/>
          </a:xfrm>
          <a:prstGeom prst="rect">
            <a:avLst/>
          </a:prstGeom>
          <a:noFill/>
          <a:ln/>
        </p:spPr>
        <p:txBody>
          <a:bodyPr wrap="square" lIns="0" tIns="0" rIns="0" bIns="0" rtlCol="0" anchor="ctr"/>
          <a:lstStyle/>
          <a:p>
            <a:pPr algn="l" indent="0" marL="0">
              <a:buNone/>
            </a:pPr>
            <a:r>
              <a:rPr lang="en-US" sz="3600" dirty="0">
                <a:solidFill>
                  <a:srgbClr val="FFFFFF"/>
                </a:solidFill>
                <a:latin typeface="Arial" pitchFamily="34" charset="0"/>
                <a:ea typeface="Arial" pitchFamily="34" charset="-122"/>
                <a:cs typeface="Arial" pitchFamily="34" charset="-120"/>
              </a:rPr>
              <a:t>Contact us</a:t>
            </a:r>
            <a:endParaRPr lang="en-US" sz="3600" dirty="0"/>
          </a:p>
        </p:txBody>
      </p:sp>
      <p:sp>
        <p:nvSpPr>
          <p:cNvPr id="4" name="Text 2"/>
          <p:cNvSpPr/>
          <p:nvPr/>
        </p:nvSpPr>
        <p:spPr>
          <a:xfrm>
            <a:off x="566928" y="1197864"/>
            <a:ext cx="5029200" cy="365760"/>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Primary contact(s)</a:t>
            </a:r>
            <a:endParaRPr lang="en-US" sz="2000" dirty="0"/>
          </a:p>
        </p:txBody>
      </p:sp>
      <p:sp>
        <p:nvSpPr>
          <p:cNvPr id="5" name="Text 3"/>
          <p:cNvSpPr/>
          <p:nvPr/>
        </p:nvSpPr>
        <p:spPr>
          <a:xfrm>
            <a:off x="566928" y="3300984"/>
            <a:ext cx="5779008" cy="2999232"/>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Contact us</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Americas 			 +1 800 447 2273</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Japan 			 +81 3 6262 1887</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Asia-Pacific 		 +60 4 291 3600</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Europe, Middle East, Africa 	 +44 (0) 134 432 8300</a:t>
            </a:r>
            <a:endParaRPr lang="en-US" sz="2000" dirty="0"/>
          </a:p>
          <a:p>
            <a:pPr algn="l" indent="0" marL="0">
              <a:spcAft>
                <a:spcPts val="600"/>
              </a:spcAft>
              <a:buNone/>
            </a:pPr>
            <a:r>
              <a:rPr lang="en-US" sz="2000" dirty="0">
                <a:solidFill>
                  <a:srgbClr val="FFFFFF"/>
                </a:solidFill>
                <a:latin typeface="Arial" pitchFamily="34" charset="0"/>
                <a:ea typeface="Arial" pitchFamily="34" charset="-122"/>
                <a:cs typeface="Arial" pitchFamily="34" charset="-120"/>
              </a:rPr>
              <a:t> </a:t>
            </a:r>
            <a:endParaRPr lang="en-US" sz="2000" dirty="0"/>
          </a:p>
          <a:p>
            <a:pPr algn="l" indent="0" marL="0">
              <a:buNone/>
            </a:pPr>
            <a:r>
              <a:rPr lang="en-US" sz="1600" dirty="0">
                <a:solidFill>
                  <a:srgbClr val="0F82AF"/>
                </a:solidFill>
                <a:latin typeface="Arial" pitchFamily="34" charset="0"/>
                <a:ea typeface="Arial" pitchFamily="34" charset="-122"/>
                <a:cs typeface="Arial" pitchFamily="34" charset="-120"/>
              </a:rPr>
              <a:t>www.spglobal.com/en/enterprise/about/contact-us.html</a:t>
            </a:r>
            <a:endParaRPr lang="en-US" sz="2000" dirty="0"/>
          </a:p>
          <a:p>
            <a:pPr algn="l" indent="0" marL="0">
              <a:buNone/>
            </a:pPr>
            <a:r>
              <a:rPr lang="en-US" sz="1600" dirty="0">
                <a:solidFill>
                  <a:srgbClr val="0F82AF"/>
                </a:solidFill>
                <a:latin typeface="Arial" pitchFamily="34" charset="0"/>
                <a:ea typeface="Arial" pitchFamily="34" charset="-122"/>
                <a:cs typeface="Arial" pitchFamily="34" charset="-120"/>
              </a:rPr>
              <a:t>www.spglobal.com</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 y="1591056"/>
          <a:ext cx="5779008" cy="914400"/>
        </p:xfrm>
        <a:graphic>
          <a:graphicData uri="http://schemas.openxmlformats.org/drawingml/2006/table">
            <a:tbl>
              <a:tblPr/>
              <a:tblGrid>
                <a:gridCol w="2889504"/>
                <a:gridCol w="2889504"/>
              </a:tblGrid>
              <a:tr h="0">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7</a:t>
            </a:r>
            <a:endParaRPr lang="en-US" dirty="0"/>
          </a:p>
        </p:txBody>
      </p:sp>
      <p:sp>
        <p:nvSpPr>
          <p:cNvPr id="3" name="Text 1"/>
          <p:cNvSpPr/>
          <p:nvPr/>
        </p:nvSpPr>
        <p:spPr>
          <a:xfrm>
            <a:off x="566928" y="347472"/>
            <a:ext cx="11064240" cy="457200"/>
          </a:xfrm>
          <a:prstGeom prst="rect">
            <a:avLst/>
          </a:prstGeom>
          <a:noFill/>
          <a:ln/>
        </p:spPr>
        <p:txBody>
          <a:bodyPr wrap="square" lIns="0" tIns="0" rIns="0" bIns="0" rtlCol="0" anchor="t"/>
          <a:lstStyle/>
          <a:p>
            <a:pPr algn="l" indent="0" marL="0">
              <a:buNone/>
            </a:pPr>
            <a:r>
              <a:rPr lang="en-US" sz="2400" dirty="0">
                <a:solidFill>
                  <a:srgbClr val="000000"/>
                </a:solidFill>
                <a:latin typeface="Arial" pitchFamily="34" charset="0"/>
                <a:ea typeface="Arial" pitchFamily="34" charset="-122"/>
                <a:cs typeface="Arial" pitchFamily="34" charset="-120"/>
              </a:rPr>
              <a:t>Resources for authors (DELETE BEFORE PUBLISHING/PRESENTING)</a:t>
            </a:r>
            <a:endParaRPr lang="en-US" sz="2400" dirty="0"/>
          </a:p>
        </p:txBody>
      </p:sp>
      <p:sp>
        <p:nvSpPr>
          <p:cNvPr id="4" name="Text 2"/>
          <p:cNvSpPr/>
          <p:nvPr/>
        </p:nvSpPr>
        <p:spPr>
          <a:xfrm>
            <a:off x="566928" y="896112"/>
            <a:ext cx="11064240" cy="283464"/>
          </a:xfrm>
          <a:prstGeom prst="rect">
            <a:avLst/>
          </a:prstGeom>
          <a:noFill/>
          <a:ln/>
        </p:spPr>
        <p:txBody>
          <a:bodyPr wrap="square" lIns="0" tIns="0" rIns="0" bIns="0" rtlCol="0" anchor="t"/>
          <a:lstStyle/>
          <a:p>
            <a:pPr algn="l" indent="0" marL="0">
              <a:buNone/>
            </a:pPr>
            <a:r>
              <a:rPr lang="en-US" sz="1800" dirty="0">
                <a:solidFill>
                  <a:srgbClr val="000000"/>
                </a:solidFill>
                <a:latin typeface="Arial" pitchFamily="34" charset="0"/>
                <a:ea typeface="Arial" pitchFamily="34" charset="-122"/>
                <a:cs typeface="Arial" pitchFamily="34" charset="-120"/>
              </a:rPr>
              <a:t>Refine your PowerPoint with these professional services Editorial, Design &amp; Publishing (EDP) offers:</a:t>
            </a:r>
            <a:endParaRPr lang="en-US" sz="1800" dirty="0"/>
          </a:p>
        </p:txBody>
      </p:sp>
      <p:sp>
        <p:nvSpPr>
          <p:cNvPr id="5" name="Text 3"/>
          <p:cNvSpPr/>
          <p:nvPr/>
        </p:nvSpPr>
        <p:spPr>
          <a:xfrm>
            <a:off x="566928" y="1261872"/>
            <a:ext cx="5029200" cy="4343400"/>
          </a:xfrm>
          <a:prstGeom prst="rect">
            <a:avLst/>
          </a:prstGeom>
          <a:noFill/>
          <a:ln/>
        </p:spPr>
        <p:txBody>
          <a:bodyPr wrap="square" lIns="0" tIns="0" rIns="0" bIns="0" rtlCol="0" anchor="t"/>
          <a:lstStyle/>
          <a:p>
            <a:pPr algn="l" indent="0" marL="0">
              <a:spcAft>
                <a:spcPts val="600"/>
              </a:spcAft>
              <a:buNone/>
            </a:pPr>
            <a:r>
              <a:rPr lang="en-US" sz="1600" b="1" dirty="0">
                <a:solidFill>
                  <a:srgbClr val="000000"/>
                </a:solidFill>
                <a:latin typeface="Arial" pitchFamily="34" charset="0"/>
                <a:ea typeface="Arial" pitchFamily="34" charset="-122"/>
                <a:cs typeface="Arial" pitchFamily="34" charset="-120"/>
              </a:rPr>
              <a:t>Add photos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Approved stock photography</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S&amp;P Global photography guidelines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Request a photo from Getty</a:t>
            </a:r>
            <a:endParaRPr lang="en-US" sz="1600" dirty="0"/>
          </a:p>
          <a:p>
            <a:pPr algn="l" indent="0" marL="0">
              <a:buNone/>
            </a:pPr>
            <a:r>
              <a:rPr lang="en-US" sz="1200" dirty="0">
                <a:solidFill>
                  <a:srgbClr val="000000"/>
                </a:solidFill>
                <a:latin typeface="Arial" pitchFamily="34" charset="0"/>
                <a:ea typeface="Arial" pitchFamily="34" charset="-122"/>
                <a:cs typeface="Arial" pitchFamily="34" charset="-120"/>
              </a:rPr>
              <a:t>Getty image downloads depend on the images meeting S&amp;P Global brand guidelines and being covered by our license agreement. Review available options </a:t>
            </a:r>
            <a:pPr algn="l" indent="0" marL="0">
              <a:spcAft>
                <a:spcPts val="600"/>
              </a:spcAft>
              <a:buNone/>
            </a:pPr>
            <a:r>
              <a:rPr lang="en-US" sz="1200" u="sng" dirty="0">
                <a:solidFill>
                  <a:srgbClr val="0F82A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here</a:t>
            </a:r>
            <a:pPr algn="l" indent="0" marL="0">
              <a:buNone/>
            </a:pPr>
            <a:r>
              <a:rPr lang="en-US" sz="1200" dirty="0">
                <a:solidFill>
                  <a:srgbClr val="000000"/>
                </a:solidFill>
                <a:latin typeface="Arial" pitchFamily="34" charset="0"/>
                <a:ea typeface="Arial" pitchFamily="34" charset="-122"/>
                <a:cs typeface="Arial" pitchFamily="34" charset="-120"/>
              </a:rPr>
              <a:t>.</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Add icons</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Do NOT use the built-in icons in PowerPoint. Instead, use the brand-compliant icons available at the link below.</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Find icons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Iconography guidelines</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Request maps, infographics, icons and visuals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Request design help</a:t>
            </a:r>
            <a:endParaRPr lang="en-US" sz="1600" dirty="0"/>
          </a:p>
        </p:txBody>
      </p:sp>
      <p:sp>
        <p:nvSpPr>
          <p:cNvPr id="6" name="Text 4"/>
          <p:cNvSpPr/>
          <p:nvPr/>
        </p:nvSpPr>
        <p:spPr>
          <a:xfrm>
            <a:off x="6601968" y="1261872"/>
            <a:ext cx="5029200" cy="4937760"/>
          </a:xfrm>
          <a:prstGeom prst="rect">
            <a:avLst/>
          </a:prstGeom>
          <a:noFill/>
          <a:ln/>
        </p:spPr>
        <p:txBody>
          <a:bodyPr wrap="square" lIns="0" tIns="0" rIns="0" bIns="0" rtlCol="0" anchor="t"/>
          <a:lstStyle/>
          <a:p>
            <a:pPr algn="l" indent="0" marL="0">
              <a:buNone/>
            </a:pPr>
            <a:r>
              <a:rPr lang="en-US" sz="1600" b="1" dirty="0">
                <a:solidFill>
                  <a:srgbClr val="000000"/>
                </a:solidFill>
                <a:latin typeface="Arial" pitchFamily="34" charset="0"/>
                <a:ea typeface="Arial" pitchFamily="34" charset="-122"/>
                <a:cs typeface="Arial" pitchFamily="34" charset="-120"/>
              </a:rPr>
              <a:t>Send to editors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Mobility</a:t>
            </a:r>
            <a:endParaRPr lang="en-US" sz="1600" dirty="0"/>
          </a:p>
          <a:p>
            <a:pPr algn="l" indent="0" marL="0">
              <a:buNone/>
            </a:pPr>
            <a:r>
              <a:rPr lang="en-US" sz="1400" u="sng" dirty="0">
                <a:solidFill>
                  <a:srgbClr val="0F82AF"/>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Energy/Commodities</a:t>
            </a:r>
            <a:pPr algn="l" indent="0" marL="0">
              <a:buNone/>
            </a:pPr>
            <a:r>
              <a:rPr lang="en-US" sz="1400" dirty="0">
                <a:solidFill>
                  <a:srgbClr val="000000"/>
                </a:solidFill>
                <a:latin typeface="Arial" pitchFamily="34" charset="0"/>
                <a:ea typeface="Arial" pitchFamily="34" charset="-122"/>
                <a:cs typeface="Arial" pitchFamily="34" charset="-120"/>
              </a:rPr>
              <a:t>*</a:t>
            </a:r>
            <a:endParaRPr lang="en-US" sz="1600" dirty="0"/>
          </a:p>
          <a:p>
            <a:pPr algn="l" indent="0" marL="0">
              <a:spcBef>
                <a:spcPts val="600"/>
              </a:spcBef>
              <a:spcAft>
                <a:spcPts val="600"/>
              </a:spcAft>
              <a:buNone/>
            </a:pPr>
            <a:r>
              <a:rPr lang="en-US" sz="1400" u="sng" dirty="0">
                <a:solidFill>
                  <a:srgbClr val="0F82AF"/>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Chemical</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Agribusiness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Global Intelligence and Analytics (GIA), formerly Economics and Country Risk (ECR)</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Maritime &amp; Trade</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Financial Institutions (FI)</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Telecommunications, Media &amp; Technology (TMT)**</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Ratings***</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Sustainable1***</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Get EDP PowerPoint Utility Add-in</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Windows 11 users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I'm not on Windows 11 yet</a:t>
            </a:r>
            <a:endParaRPr lang="en-US" sz="1600" dirty="0"/>
          </a:p>
        </p:txBody>
      </p:sp>
      <p:sp>
        <p:nvSpPr>
          <p:cNvPr id="7" name="Text 5"/>
          <p:cNvSpPr/>
          <p:nvPr/>
        </p:nvSpPr>
        <p:spPr>
          <a:xfrm>
            <a:off x="566928" y="5687568"/>
            <a:ext cx="11064240" cy="521208"/>
          </a:xfrm>
          <a:prstGeom prst="rect">
            <a:avLst/>
          </a:prstGeom>
          <a:noFill/>
          <a:ln/>
        </p:spPr>
        <p:txBody>
          <a:bodyPr wrap="square" lIns="0" tIns="0" rIns="0" bIns="0" rtlCol="0" anchor="b"/>
          <a:lstStyle/>
          <a:p>
            <a:pPr algn="l" indent="0" marL="0">
              <a:buNone/>
            </a:pPr>
            <a:r>
              <a:rPr lang="en-US" sz="700" dirty="0">
                <a:solidFill>
                  <a:srgbClr val="000000"/>
                </a:solidFill>
                <a:latin typeface="Arial" pitchFamily="34" charset="0"/>
                <a:ea typeface="Arial" pitchFamily="34" charset="-122"/>
                <a:cs typeface="Arial" pitchFamily="34" charset="-120"/>
              </a:rPr>
              <a:t>* If your content is published on Platts Connect in the first instance, contact </a:t>
            </a:r>
            <a:pPr algn="l" indent="0" marL="0">
              <a:buNone/>
            </a:pPr>
            <a:r>
              <a:rPr lang="en-US" sz="700" u="sng" dirty="0">
                <a:solidFill>
                  <a:srgbClr val="0F82AF"/>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publish.pira@spglobal.com</a:t>
            </a:r>
            <a:pPr algn="l" indent="0" marL="0">
              <a:spcAft>
                <a:spcPts val="200"/>
              </a:spcAft>
              <a:buNone/>
            </a:pPr>
            <a:r>
              <a:rPr lang="en-US" sz="700" dirty="0">
                <a:solidFill>
                  <a:srgbClr val="000000"/>
                </a:solidFill>
                <a:latin typeface="Arial" pitchFamily="34" charset="0"/>
                <a:ea typeface="Arial" pitchFamily="34" charset="-122"/>
                <a:cs typeface="Arial" pitchFamily="34" charset="-120"/>
              </a:rPr>
              <a:t>.</a:t>
            </a:r>
            <a:endParaRPr lang="en-US" sz="700" dirty="0"/>
          </a:p>
          <a:p>
            <a:pPr algn="l" indent="0" marL="0">
              <a:buNone/>
            </a:pPr>
            <a:r>
              <a:rPr lang="en-US" sz="700" u="sng" dirty="0">
                <a:solidFill>
                  <a:srgbClr val="0F82AF"/>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 451 Editorial</a:t>
            </a:r>
            <a:pPr algn="l" indent="0" marL="0">
              <a:buNone/>
            </a:pPr>
            <a:r>
              <a:rPr lang="en-US" sz="700" dirty="0">
                <a:solidFill>
                  <a:srgbClr val="000000"/>
                </a:solidFill>
                <a:latin typeface="Arial" pitchFamily="34" charset="0"/>
                <a:ea typeface="Arial" pitchFamily="34" charset="-122"/>
                <a:cs typeface="Arial" pitchFamily="34" charset="-120"/>
              </a:rPr>
              <a:t> | </a:t>
            </a:r>
            <a:pPr algn="l" indent="0" marL="0">
              <a:spcAft>
                <a:spcPts val="200"/>
              </a:spcAft>
              <a:buNone/>
            </a:pPr>
            <a:r>
              <a:rPr lang="en-US" sz="700" u="sng" dirty="0">
                <a:solidFill>
                  <a:srgbClr val="0F82AF"/>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Research Editorial (CapIQ Pro)</a:t>
            </a:r>
            <a:endParaRPr lang="en-US" sz="700" dirty="0"/>
          </a:p>
          <a:p>
            <a:pPr algn="l" indent="0" marL="0">
              <a:buNone/>
            </a:pPr>
            <a:r>
              <a:rPr lang="en-US" sz="700" dirty="0">
                <a:solidFill>
                  <a:srgbClr val="000000"/>
                </a:solidFill>
                <a:latin typeface="Arial" pitchFamily="34" charset="0"/>
                <a:ea typeface="Arial" pitchFamily="34" charset="-122"/>
                <a:cs typeface="Arial" pitchFamily="34" charset="-120"/>
              </a:rPr>
              <a:t>*** While EDP does not provide editing services specifically for the Ratings and Sustainable1 divisions, we do offer cross-divisional content editing services. For more details, contact </a:t>
            </a:r>
            <a:pPr algn="l" indent="0" marL="0">
              <a:buNone/>
            </a:pPr>
            <a:r>
              <a:rPr lang="en-US" sz="700" u="sng" dirty="0">
                <a:solidFill>
                  <a:srgbClr val="0F82AF"/>
                </a:solidFill>
                <a:latin typeface="Arial" pitchFamily="34" charset="0"/>
                <a:ea typeface="Arial" pitchFamily="34" charset="-122"/>
                <a:cs typeface="Arial" pitchFamily="34" charset="-120"/>
                <a:hlinkClick r:id="rId20" invalidUrl="" action="" tgtFrame="" tooltip="" history="1" highlightClick="0" endSnd="0">
                  <a:extLst>
                    <a:ext uri="{A12FA001-AC4F-418D-AE19-62706E023703}">
                      <ahyp:hlinkClr xmlns:ahyp="http://schemas.microsoft.com/office/drawing/2018/hyperlinkcolor" val="tx"/>
                    </a:ext>
                  </a:extLst>
                </a:hlinkClick>
              </a:rPr>
              <a:t>mark.pengelly@spglobal.com</a:t>
            </a:r>
            <a:pPr algn="l" indent="0" marL="0">
              <a:spcAft>
                <a:spcPts val="200"/>
              </a:spcAft>
              <a:buNone/>
            </a:pPr>
            <a:r>
              <a:rPr lang="en-US" sz="700" dirty="0">
                <a:solidFill>
                  <a:srgbClr val="000000"/>
                </a:solidFill>
                <a:latin typeface="Arial" pitchFamily="34" charset="0"/>
                <a:ea typeface="Arial" pitchFamily="34" charset="-122"/>
                <a:cs typeface="Arial" pitchFamily="34" charset="-120"/>
              </a:rPr>
              <a:t>.</a:t>
            </a:r>
            <a:endParaRPr lang="en-US" sz="700" dirty="0"/>
          </a:p>
          <a:p>
            <a:pPr algn="l" indent="0" marL="0">
              <a:spcAft>
                <a:spcPts val="200"/>
              </a:spcAft>
              <a:buNone/>
            </a:pPr>
            <a:r>
              <a:rPr lang="en-US" sz="700" dirty="0">
                <a:solidFill>
                  <a:srgbClr val="000000"/>
                </a:solidFill>
                <a:latin typeface="Arial" pitchFamily="34" charset="0"/>
                <a:ea typeface="Arial" pitchFamily="34" charset="-122"/>
                <a:cs typeface="Arial" pitchFamily="34" charset="-120"/>
              </a:rPr>
              <a:t>Authentication required to access certain links.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hasCustomPrompt="1"/>
          </p:nvPr>
        </p:nvSpPr>
        <p:spPr>
          <a:xfrm>
            <a:off x="11411712" y="6565392"/>
            <a:ext cx="310896"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8</a:t>
            </a:r>
            <a:endParaRPr lang="en-US" sz="7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